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663440" cy="685800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0"/>
            <a:ext cx="3840480" cy="914400"/>
          </a:xfrm>
          <a:prstGeom prst="rect">
            <a:avLst/>
          </a:prstGeom>
          <a:noFill/>
        </p:spPr>
        <p:txBody>
          <a:bodyPr wrap="square"/>
          <a:lstStyle/>
          <a:p>
            <a:pPr algn="l"/>
            <a:r>
              <a:rPr sz="4000" b="1" i="0">
                <a:solidFill>
                  <a:srgbClr val="FFFFFF"/>
                </a:solidFill>
                <a:latin typeface="Calibri"/>
              </a:rPr>
              <a:t>DIS GROUP</a:t>
            </a:r>
          </a:p>
        </p:txBody>
      </p:sp>
      <p:sp>
        <p:nvSpPr>
          <p:cNvPr id="4" name="Rectangle 3"/>
          <p:cNvSpPr/>
          <p:nvPr/>
        </p:nvSpPr>
        <p:spPr>
          <a:xfrm>
            <a:off x="457200" y="2487168"/>
            <a:ext cx="1280160" cy="381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633472"/>
            <a:ext cx="3840480" cy="868680"/>
          </a:xfrm>
          <a:prstGeom prst="rect">
            <a:avLst/>
          </a:prstGeom>
          <a:noFill/>
        </p:spPr>
        <p:txBody>
          <a:bodyPr wrap="square"/>
          <a:lstStyle/>
          <a:p>
            <a:pPr algn="l"/>
            <a:r>
              <a:rPr sz="1550" b="0" i="0">
                <a:solidFill>
                  <a:srgbClr val="AFC8EB"/>
                </a:solidFill>
                <a:latin typeface="Calibri"/>
              </a:rPr>
              <a:t>The Intelligence Layer</a:t>
            </a:r>
          </a:p>
          <a:p>
            <a:pPr algn="l"/>
            <a:r>
              <a:rPr sz="1550" b="0" i="0">
                <a:solidFill>
                  <a:srgbClr val="AFC8EB"/>
                </a:solidFill>
                <a:latin typeface="Calibri"/>
              </a:rPr>
              <a:t>for Corporate Travel</a:t>
            </a:r>
          </a:p>
        </p:txBody>
      </p:sp>
      <p:sp>
        <p:nvSpPr>
          <p:cNvPr id="6" name="TextBox 5"/>
          <p:cNvSpPr txBox="1"/>
          <p:nvPr/>
        </p:nvSpPr>
        <p:spPr>
          <a:xfrm>
            <a:off x="457200" y="3611880"/>
            <a:ext cx="3840480" cy="411480"/>
          </a:xfrm>
          <a:prstGeom prst="rect">
            <a:avLst/>
          </a:prstGeom>
          <a:noFill/>
        </p:spPr>
        <p:txBody>
          <a:bodyPr wrap="square"/>
          <a:lstStyle/>
          <a:p>
            <a:pPr algn="l"/>
            <a:r>
              <a:rPr sz="1100" b="0" i="1">
                <a:solidFill>
                  <a:srgbClr val="8CAAD7"/>
                </a:solidFill>
                <a:latin typeface="Calibri"/>
              </a:rPr>
              <a:t>Introducing DIS Travel</a:t>
            </a:r>
          </a:p>
        </p:txBody>
      </p:sp>
      <p:sp>
        <p:nvSpPr>
          <p:cNvPr id="7" name="TextBox 6"/>
          <p:cNvSpPr txBox="1"/>
          <p:nvPr/>
        </p:nvSpPr>
        <p:spPr>
          <a:xfrm>
            <a:off x="5029200" y="1389888"/>
            <a:ext cx="6766560" cy="274320"/>
          </a:xfrm>
          <a:prstGeom prst="rect">
            <a:avLst/>
          </a:prstGeom>
          <a:noFill/>
        </p:spPr>
        <p:txBody>
          <a:bodyPr wrap="square"/>
          <a:lstStyle/>
          <a:p>
            <a:pPr algn="l"/>
            <a:r>
              <a:rPr sz="850" b="1" i="0">
                <a:solidFill>
                  <a:srgbClr val="6B7280"/>
                </a:solidFill>
                <a:latin typeface="Calibri"/>
              </a:rPr>
              <a:t>PREPARED FOR</a:t>
            </a:r>
          </a:p>
        </p:txBody>
      </p:sp>
      <p:sp>
        <p:nvSpPr>
          <p:cNvPr id="8" name="TextBox 7"/>
          <p:cNvSpPr txBox="1"/>
          <p:nvPr/>
        </p:nvSpPr>
        <p:spPr>
          <a:xfrm>
            <a:off x="5029200" y="1664208"/>
            <a:ext cx="6766560" cy="640080"/>
          </a:xfrm>
          <a:prstGeom prst="rect">
            <a:avLst/>
          </a:prstGeom>
          <a:noFill/>
        </p:spPr>
        <p:txBody>
          <a:bodyPr wrap="square"/>
          <a:lstStyle/>
          <a:p>
            <a:pPr algn="l"/>
            <a:r>
              <a:rPr sz="3000" b="1" i="0">
                <a:solidFill>
                  <a:srgbClr val="0E2C54"/>
                </a:solidFill>
                <a:latin typeface="Calibri"/>
              </a:rPr>
              <a:t>Skyscanner</a:t>
            </a:r>
          </a:p>
        </p:txBody>
      </p:sp>
      <p:sp>
        <p:nvSpPr>
          <p:cNvPr id="9" name="TextBox 8"/>
          <p:cNvSpPr txBox="1"/>
          <p:nvPr/>
        </p:nvSpPr>
        <p:spPr>
          <a:xfrm>
            <a:off x="5029200" y="2258568"/>
            <a:ext cx="6766560" cy="384048"/>
          </a:xfrm>
          <a:prstGeom prst="rect">
            <a:avLst/>
          </a:prstGeom>
          <a:noFill/>
        </p:spPr>
        <p:txBody>
          <a:bodyPr wrap="square"/>
          <a:lstStyle/>
          <a:p>
            <a:pPr algn="l"/>
            <a:r>
              <a:rPr sz="1600" b="0" i="0">
                <a:solidFill>
                  <a:srgbClr val="6B7280"/>
                </a:solidFill>
                <a:latin typeface="Calibri"/>
              </a:rPr>
              <a:t>Partnerships Team</a:t>
            </a:r>
          </a:p>
        </p:txBody>
      </p:sp>
      <p:sp>
        <p:nvSpPr>
          <p:cNvPr id="10" name="Rectangle 9"/>
          <p:cNvSpPr/>
          <p:nvPr/>
        </p:nvSpPr>
        <p:spPr>
          <a:xfrm>
            <a:off x="5029200" y="2743200"/>
            <a:ext cx="676656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2907792"/>
            <a:ext cx="6766560" cy="256032"/>
          </a:xfrm>
          <a:prstGeom prst="rect">
            <a:avLst/>
          </a:prstGeom>
          <a:noFill/>
        </p:spPr>
        <p:txBody>
          <a:bodyPr wrap="square"/>
          <a:lstStyle/>
          <a:p>
            <a:pPr algn="l"/>
            <a:r>
              <a:rPr sz="850" b="1" i="0">
                <a:solidFill>
                  <a:srgbClr val="6B7280"/>
                </a:solidFill>
                <a:latin typeface="Calibri"/>
              </a:rPr>
              <a:t>PARTNERSHIP PACKAGE CONTENTS</a:t>
            </a:r>
          </a:p>
        </p:txBody>
      </p:sp>
      <p:sp>
        <p:nvSpPr>
          <p:cNvPr id="12" name="TextBox 11"/>
          <p:cNvSpPr txBox="1"/>
          <p:nvPr/>
        </p:nvSpPr>
        <p:spPr>
          <a:xfrm>
            <a:off x="5029200" y="3218688"/>
            <a:ext cx="6766560" cy="347472"/>
          </a:xfrm>
          <a:prstGeom prst="rect">
            <a:avLst/>
          </a:prstGeom>
          <a:noFill/>
        </p:spPr>
        <p:txBody>
          <a:bodyPr wrap="square"/>
          <a:lstStyle/>
          <a:p>
            <a:pPr algn="l"/>
            <a:r>
              <a:rPr sz="1100" b="0" i="0">
                <a:solidFill>
                  <a:srgbClr val="111827"/>
                </a:solidFill>
                <a:latin typeface="Calibri"/>
              </a:rPr>
              <a:t>01.  Cover Letter</a:t>
            </a:r>
          </a:p>
        </p:txBody>
      </p:sp>
      <p:sp>
        <p:nvSpPr>
          <p:cNvPr id="13" name="TextBox 12"/>
          <p:cNvSpPr txBox="1"/>
          <p:nvPr/>
        </p:nvSpPr>
        <p:spPr>
          <a:xfrm>
            <a:off x="5029200" y="3602736"/>
            <a:ext cx="6766560" cy="347472"/>
          </a:xfrm>
          <a:prstGeom prst="rect">
            <a:avLst/>
          </a:prstGeom>
          <a:noFill/>
        </p:spPr>
        <p:txBody>
          <a:bodyPr wrap="square"/>
          <a:lstStyle/>
          <a:p>
            <a:pPr algn="l"/>
            <a:r>
              <a:rPr sz="1100" b="0" i="0">
                <a:solidFill>
                  <a:srgbClr val="111827"/>
                </a:solidFill>
                <a:latin typeface="Calibri"/>
              </a:rPr>
              <a:t>02.  Executive One-Pager</a:t>
            </a:r>
          </a:p>
        </p:txBody>
      </p:sp>
      <p:sp>
        <p:nvSpPr>
          <p:cNvPr id="14" name="TextBox 13"/>
          <p:cNvSpPr txBox="1"/>
          <p:nvPr/>
        </p:nvSpPr>
        <p:spPr>
          <a:xfrm>
            <a:off x="5029200" y="3986784"/>
            <a:ext cx="6766560" cy="347472"/>
          </a:xfrm>
          <a:prstGeom prst="rect">
            <a:avLst/>
          </a:prstGeom>
          <a:noFill/>
        </p:spPr>
        <p:txBody>
          <a:bodyPr wrap="square"/>
          <a:lstStyle/>
          <a:p>
            <a:pPr algn="l"/>
            <a:r>
              <a:rPr sz="1100" b="0" i="0">
                <a:solidFill>
                  <a:srgbClr val="111827"/>
                </a:solidFill>
                <a:latin typeface="Calibri"/>
              </a:rPr>
              <a:t>03.  Company &amp; Product Presentation  (this document)</a:t>
            </a:r>
          </a:p>
        </p:txBody>
      </p:sp>
      <p:sp>
        <p:nvSpPr>
          <p:cNvPr id="15" name="TextBox 14"/>
          <p:cNvSpPr txBox="1"/>
          <p:nvPr/>
        </p:nvSpPr>
        <p:spPr>
          <a:xfrm>
            <a:off x="5029200" y="4370832"/>
            <a:ext cx="6766560" cy="347472"/>
          </a:xfrm>
          <a:prstGeom prst="rect">
            <a:avLst/>
          </a:prstGeom>
          <a:noFill/>
        </p:spPr>
        <p:txBody>
          <a:bodyPr wrap="square"/>
          <a:lstStyle/>
          <a:p>
            <a:pPr algn="l"/>
            <a:r>
              <a:rPr sz="1100" b="0" i="0">
                <a:solidFill>
                  <a:srgbClr val="111827"/>
                </a:solidFill>
                <a:latin typeface="Calibri"/>
              </a:rPr>
              <a:t>04.  Technical Architecture Overview</a:t>
            </a:r>
          </a:p>
        </p:txBody>
      </p:sp>
      <p:sp>
        <p:nvSpPr>
          <p:cNvPr id="16" name="Rectangle 15"/>
          <p:cNvSpPr/>
          <p:nvPr/>
        </p:nvSpPr>
        <p:spPr>
          <a:xfrm>
            <a:off x="5029200" y="5257800"/>
            <a:ext cx="6766560"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5376672"/>
            <a:ext cx="6766560" cy="292608"/>
          </a:xfrm>
          <a:prstGeom prst="rect">
            <a:avLst/>
          </a:prstGeom>
          <a:noFill/>
        </p:spPr>
        <p:txBody>
          <a:bodyPr wrap="square"/>
          <a:lstStyle/>
          <a:p>
            <a:pPr algn="l"/>
            <a:r>
              <a:rPr sz="1000" b="0" i="0">
                <a:solidFill>
                  <a:srgbClr val="6B7280"/>
                </a:solidFill>
                <a:latin typeface="Calibri"/>
              </a:rPr>
              <a:t>July 2026   |   Confidential — For Partnership Discussion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02</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DIS Group at a Glance</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2 / 12</a:t>
            </a:r>
          </a:p>
        </p:txBody>
      </p:sp>
      <p:sp>
        <p:nvSpPr>
          <p:cNvPr id="10" name="TextBox 9"/>
          <p:cNvSpPr txBox="1"/>
          <p:nvPr/>
        </p:nvSpPr>
        <p:spPr>
          <a:xfrm>
            <a:off x="685800" y="822960"/>
            <a:ext cx="10820095" cy="292608"/>
          </a:xfrm>
          <a:prstGeom prst="rect">
            <a:avLst/>
          </a:prstGeom>
          <a:noFill/>
        </p:spPr>
        <p:txBody>
          <a:bodyPr wrap="square"/>
          <a:lstStyle/>
          <a:p>
            <a:pPr algn="l"/>
            <a:r>
              <a:rPr sz="1100" b="0" i="1">
                <a:solidFill>
                  <a:srgbClr val="6B7280"/>
                </a:solidFill>
                <a:latin typeface="Calibri"/>
              </a:rPr>
              <a:t>One thesis applied across three markets: build the intelligence layer for industries that make decisions with poor data.</a:t>
            </a:r>
          </a:p>
        </p:txBody>
      </p:sp>
      <p:sp>
        <p:nvSpPr>
          <p:cNvPr id="11" name="Rectangle 10"/>
          <p:cNvSpPr/>
          <p:nvPr/>
        </p:nvSpPr>
        <p:spPr>
          <a:xfrm>
            <a:off x="685800" y="1207008"/>
            <a:ext cx="3538728" cy="2084831"/>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1335024"/>
            <a:ext cx="3209544" cy="347472"/>
          </a:xfrm>
          <a:prstGeom prst="rect">
            <a:avLst/>
          </a:prstGeom>
          <a:noFill/>
        </p:spPr>
        <p:txBody>
          <a:bodyPr wrap="square"/>
          <a:lstStyle/>
          <a:p>
            <a:pPr algn="l"/>
            <a:r>
              <a:rPr sz="1100" b="1" i="0">
                <a:solidFill>
                  <a:srgbClr val="FFFFFF"/>
                </a:solidFill>
                <a:latin typeface="Calibri"/>
              </a:rPr>
              <a:t>DIS TRAVEL</a:t>
            </a:r>
          </a:p>
        </p:txBody>
      </p:sp>
      <p:sp>
        <p:nvSpPr>
          <p:cNvPr id="13" name="TextBox 12"/>
          <p:cNvSpPr txBox="1"/>
          <p:nvPr/>
        </p:nvSpPr>
        <p:spPr>
          <a:xfrm>
            <a:off x="850392" y="1664208"/>
            <a:ext cx="3209544" cy="365760"/>
          </a:xfrm>
          <a:prstGeom prst="rect">
            <a:avLst/>
          </a:prstGeom>
          <a:noFill/>
        </p:spPr>
        <p:txBody>
          <a:bodyPr wrap="square"/>
          <a:lstStyle/>
          <a:p>
            <a:pPr algn="l"/>
            <a:r>
              <a:rPr sz="950" b="0" i="1">
                <a:solidFill>
                  <a:srgbClr val="D2E1F5"/>
                </a:solidFill>
                <a:latin typeface="Calibri"/>
              </a:rPr>
              <a:t>AI-powered Travel Intelligence Platform</a:t>
            </a:r>
          </a:p>
        </p:txBody>
      </p:sp>
      <p:sp>
        <p:nvSpPr>
          <p:cNvPr id="14" name="TextBox 13"/>
          <p:cNvSpPr txBox="1"/>
          <p:nvPr/>
        </p:nvSpPr>
        <p:spPr>
          <a:xfrm>
            <a:off x="850392" y="2048256"/>
            <a:ext cx="3209544" cy="1115567"/>
          </a:xfrm>
          <a:prstGeom prst="rect">
            <a:avLst/>
          </a:prstGeom>
          <a:noFill/>
        </p:spPr>
        <p:txBody>
          <a:bodyPr wrap="square"/>
          <a:lstStyle/>
          <a:p>
            <a:pPr algn="l"/>
            <a:r>
              <a:rPr sz="1000" b="0" i="0">
                <a:solidFill>
                  <a:srgbClr val="DCE8FA"/>
                </a:solidFill>
                <a:latin typeface="Calibri"/>
              </a:rPr>
              <a:t>Intelligence layer for corporate buyers and travel-intensive organisations. Built for CSRD compliance from the foundation.</a:t>
            </a:r>
          </a:p>
        </p:txBody>
      </p:sp>
      <p:sp>
        <p:nvSpPr>
          <p:cNvPr id="15" name="Rectangle 14"/>
          <p:cNvSpPr/>
          <p:nvPr/>
        </p:nvSpPr>
        <p:spPr>
          <a:xfrm>
            <a:off x="4389120" y="1207008"/>
            <a:ext cx="3538728" cy="2084831"/>
          </a:xfrm>
          <a:prstGeom prst="rect">
            <a:avLst/>
          </a:prstGeom>
          <a:solidFill>
            <a:srgbClr val="025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1335024"/>
            <a:ext cx="3209544" cy="347472"/>
          </a:xfrm>
          <a:prstGeom prst="rect">
            <a:avLst/>
          </a:prstGeom>
          <a:noFill/>
        </p:spPr>
        <p:txBody>
          <a:bodyPr wrap="square"/>
          <a:lstStyle/>
          <a:p>
            <a:pPr algn="l"/>
            <a:r>
              <a:rPr sz="1100" b="1" i="0">
                <a:solidFill>
                  <a:srgbClr val="FFFFFF"/>
                </a:solidFill>
                <a:latin typeface="Calibri"/>
              </a:rPr>
              <a:t>DIS ENERGY</a:t>
            </a:r>
          </a:p>
        </p:txBody>
      </p:sp>
      <p:sp>
        <p:nvSpPr>
          <p:cNvPr id="17" name="TextBox 16"/>
          <p:cNvSpPr txBox="1"/>
          <p:nvPr/>
        </p:nvSpPr>
        <p:spPr>
          <a:xfrm>
            <a:off x="4553712" y="1664208"/>
            <a:ext cx="3209544" cy="365760"/>
          </a:xfrm>
          <a:prstGeom prst="rect">
            <a:avLst/>
          </a:prstGeom>
          <a:noFill/>
        </p:spPr>
        <p:txBody>
          <a:bodyPr wrap="square"/>
          <a:lstStyle/>
          <a:p>
            <a:pPr algn="l"/>
            <a:r>
              <a:rPr sz="950" b="0" i="1">
                <a:solidFill>
                  <a:srgbClr val="D2E1F5"/>
                </a:solidFill>
                <a:latin typeface="Calibri"/>
              </a:rPr>
              <a:t>Trading and Asset Decision Intelligence</a:t>
            </a:r>
          </a:p>
        </p:txBody>
      </p:sp>
      <p:sp>
        <p:nvSpPr>
          <p:cNvPr id="18" name="TextBox 17"/>
          <p:cNvSpPr txBox="1"/>
          <p:nvPr/>
        </p:nvSpPr>
        <p:spPr>
          <a:xfrm>
            <a:off x="4553712" y="2048256"/>
            <a:ext cx="3209544" cy="1115567"/>
          </a:xfrm>
          <a:prstGeom prst="rect">
            <a:avLst/>
          </a:prstGeom>
          <a:noFill/>
        </p:spPr>
        <p:txBody>
          <a:bodyPr wrap="square"/>
          <a:lstStyle/>
          <a:p>
            <a:pPr algn="l"/>
            <a:r>
              <a:rPr sz="1000" b="0" i="0">
                <a:solidFill>
                  <a:srgbClr val="DCE8FA"/>
                </a:solidFill>
                <a:latin typeface="Calibri"/>
              </a:rPr>
              <a:t>Intelligence layer for energy market decisions, asset portfolio management, and regulatory positioning.</a:t>
            </a:r>
          </a:p>
        </p:txBody>
      </p:sp>
      <p:sp>
        <p:nvSpPr>
          <p:cNvPr id="19" name="Rectangle 18"/>
          <p:cNvSpPr/>
          <p:nvPr/>
        </p:nvSpPr>
        <p:spPr>
          <a:xfrm>
            <a:off x="8092440" y="1207008"/>
            <a:ext cx="3538728" cy="2084831"/>
          </a:xfrm>
          <a:prstGeom prst="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57032" y="1335024"/>
            <a:ext cx="3209544" cy="347472"/>
          </a:xfrm>
          <a:prstGeom prst="rect">
            <a:avLst/>
          </a:prstGeom>
          <a:noFill/>
        </p:spPr>
        <p:txBody>
          <a:bodyPr wrap="square"/>
          <a:lstStyle/>
          <a:p>
            <a:pPr algn="l"/>
            <a:r>
              <a:rPr sz="1100" b="1" i="0">
                <a:solidFill>
                  <a:srgbClr val="FFFFFF"/>
                </a:solidFill>
                <a:latin typeface="Calibri"/>
              </a:rPr>
              <a:t>DIS ESG</a:t>
            </a:r>
          </a:p>
        </p:txBody>
      </p:sp>
      <p:sp>
        <p:nvSpPr>
          <p:cNvPr id="21" name="TextBox 20"/>
          <p:cNvSpPr txBox="1"/>
          <p:nvPr/>
        </p:nvSpPr>
        <p:spPr>
          <a:xfrm>
            <a:off x="8257032" y="1664208"/>
            <a:ext cx="3209544" cy="365760"/>
          </a:xfrm>
          <a:prstGeom prst="rect">
            <a:avLst/>
          </a:prstGeom>
          <a:noFill/>
        </p:spPr>
        <p:txBody>
          <a:bodyPr wrap="square"/>
          <a:lstStyle/>
          <a:p>
            <a:pPr algn="l"/>
            <a:r>
              <a:rPr sz="950" b="0" i="1">
                <a:solidFill>
                  <a:srgbClr val="D2E1F5"/>
                </a:solidFill>
                <a:latin typeface="Calibri"/>
              </a:rPr>
              <a:t>Environmental and Governance Data</a:t>
            </a:r>
          </a:p>
        </p:txBody>
      </p:sp>
      <p:sp>
        <p:nvSpPr>
          <p:cNvPr id="22" name="TextBox 21"/>
          <p:cNvSpPr txBox="1"/>
          <p:nvPr/>
        </p:nvSpPr>
        <p:spPr>
          <a:xfrm>
            <a:off x="8257032" y="2048256"/>
            <a:ext cx="3209544" cy="1115567"/>
          </a:xfrm>
          <a:prstGeom prst="rect">
            <a:avLst/>
          </a:prstGeom>
          <a:noFill/>
        </p:spPr>
        <p:txBody>
          <a:bodyPr wrap="square"/>
          <a:lstStyle/>
          <a:p>
            <a:pPr algn="l"/>
            <a:r>
              <a:rPr sz="1000" b="0" i="0">
                <a:solidFill>
                  <a:srgbClr val="DCE8FA"/>
                </a:solidFill>
                <a:latin typeface="Calibri"/>
              </a:rPr>
              <a:t>Structured ESG data infrastructure for corporate compliance, CSRD reporting, and capital markets disclosure.</a:t>
            </a:r>
          </a:p>
        </p:txBody>
      </p:sp>
      <p:sp>
        <p:nvSpPr>
          <p:cNvPr id="23" name="TextBox 22"/>
          <p:cNvSpPr txBox="1"/>
          <p:nvPr/>
        </p:nvSpPr>
        <p:spPr>
          <a:xfrm>
            <a:off x="685800" y="3493007"/>
            <a:ext cx="10820095" cy="256032"/>
          </a:xfrm>
          <a:prstGeom prst="rect">
            <a:avLst/>
          </a:prstGeom>
          <a:noFill/>
        </p:spPr>
        <p:txBody>
          <a:bodyPr wrap="square"/>
          <a:lstStyle/>
          <a:p>
            <a:pPr algn="l"/>
            <a:r>
              <a:rPr sz="850" b="1" i="0">
                <a:solidFill>
                  <a:srgbClr val="2563EB"/>
                </a:solidFill>
                <a:latin typeface="Calibri"/>
              </a:rPr>
              <a:t>WHAT EVERY DIS PRODUCT SHARES</a:t>
            </a:r>
          </a:p>
        </p:txBody>
      </p:sp>
      <p:sp>
        <p:nvSpPr>
          <p:cNvPr id="24" name="TextBox 23"/>
          <p:cNvSpPr txBox="1"/>
          <p:nvPr/>
        </p:nvSpPr>
        <p:spPr>
          <a:xfrm>
            <a:off x="685800" y="3767327"/>
            <a:ext cx="5394960" cy="329184"/>
          </a:xfrm>
          <a:prstGeom prst="rect">
            <a:avLst/>
          </a:prstGeom>
          <a:noFill/>
        </p:spPr>
        <p:txBody>
          <a:bodyPr wrap="square"/>
          <a:lstStyle/>
          <a:p>
            <a:pPr algn="l"/>
            <a:r>
              <a:rPr sz="1000" b="0" i="0">
                <a:solidFill>
                  <a:srgbClr val="111827"/>
                </a:solidFill>
                <a:latin typeface="Calibri"/>
              </a:rPr>
              <a:t>  ·  AI-native from inception — no legacy architecture to retrofit</a:t>
            </a:r>
          </a:p>
        </p:txBody>
      </p:sp>
      <p:sp>
        <p:nvSpPr>
          <p:cNvPr id="25" name="TextBox 24"/>
          <p:cNvSpPr txBox="1"/>
          <p:nvPr/>
        </p:nvSpPr>
        <p:spPr>
          <a:xfrm>
            <a:off x="6446520" y="3767327"/>
            <a:ext cx="5394960" cy="329184"/>
          </a:xfrm>
          <a:prstGeom prst="rect">
            <a:avLst/>
          </a:prstGeom>
          <a:noFill/>
        </p:spPr>
        <p:txBody>
          <a:bodyPr wrap="square"/>
          <a:lstStyle/>
          <a:p>
            <a:pPr algn="l"/>
            <a:r>
              <a:rPr sz="1000" b="0" i="0">
                <a:solidFill>
                  <a:srgbClr val="111827"/>
                </a:solidFill>
                <a:latin typeface="Calibri"/>
              </a:rPr>
              <a:t>  ·  Data treated as a strategic asset: owned, structured, and governed</a:t>
            </a:r>
          </a:p>
        </p:txBody>
      </p:sp>
      <p:sp>
        <p:nvSpPr>
          <p:cNvPr id="26" name="TextBox 25"/>
          <p:cNvSpPr txBox="1"/>
          <p:nvPr/>
        </p:nvSpPr>
        <p:spPr>
          <a:xfrm>
            <a:off x="685800" y="4133087"/>
            <a:ext cx="5394960" cy="329184"/>
          </a:xfrm>
          <a:prstGeom prst="rect">
            <a:avLst/>
          </a:prstGeom>
          <a:noFill/>
        </p:spPr>
        <p:txBody>
          <a:bodyPr wrap="square"/>
          <a:lstStyle/>
          <a:p>
            <a:pPr algn="l"/>
            <a:r>
              <a:rPr sz="1000" b="0" i="0">
                <a:solidFill>
                  <a:srgbClr val="111827"/>
                </a:solidFill>
                <a:latin typeface="Calibri"/>
              </a:rPr>
              <a:t>  ·  GDPR-compliant design — EU-incorporated company, EU enterprise market</a:t>
            </a:r>
          </a:p>
        </p:txBody>
      </p:sp>
      <p:sp>
        <p:nvSpPr>
          <p:cNvPr id="27" name="TextBox 26"/>
          <p:cNvSpPr txBox="1"/>
          <p:nvPr/>
        </p:nvSpPr>
        <p:spPr>
          <a:xfrm>
            <a:off x="6446520" y="4133087"/>
            <a:ext cx="5394960" cy="329184"/>
          </a:xfrm>
          <a:prstGeom prst="rect">
            <a:avLst/>
          </a:prstGeom>
          <a:noFill/>
        </p:spPr>
        <p:txBody>
          <a:bodyPr wrap="square"/>
          <a:lstStyle/>
          <a:p>
            <a:pPr algn="l"/>
            <a:r>
              <a:rPr sz="1000" b="0" i="0">
                <a:solidFill>
                  <a:srgbClr val="111827"/>
                </a:solidFill>
                <a:latin typeface="Calibri"/>
              </a:rPr>
              <a:t>  ·  Long-term horizon — built for defensible positions, not first-version launches</a:t>
            </a:r>
          </a:p>
        </p:txBody>
      </p:sp>
      <p:sp>
        <p:nvSpPr>
          <p:cNvPr id="28" name="TextBox 27"/>
          <p:cNvSpPr txBox="1"/>
          <p:nvPr/>
        </p:nvSpPr>
        <p:spPr>
          <a:xfrm>
            <a:off x="685800" y="4498847"/>
            <a:ext cx="5394960" cy="329184"/>
          </a:xfrm>
          <a:prstGeom prst="rect">
            <a:avLst/>
          </a:prstGeom>
          <a:noFill/>
        </p:spPr>
        <p:txBody>
          <a:bodyPr wrap="square"/>
          <a:lstStyle/>
          <a:p>
            <a:pPr algn="l"/>
            <a:r>
              <a:rPr sz="1000" b="0" i="0">
                <a:solidFill>
                  <a:srgbClr val="111827"/>
                </a:solidFill>
                <a:latin typeface="Calibri"/>
              </a:rPr>
              <a:t>  ·  Governance-first AI deployment — published frameworks, operational today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03</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Corporate Travel Has a Missing Layer</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3 / 12</a:t>
            </a:r>
          </a:p>
        </p:txBody>
      </p:sp>
      <p:sp>
        <p:nvSpPr>
          <p:cNvPr id="10" name="TextBox 9"/>
          <p:cNvSpPr txBox="1"/>
          <p:nvPr/>
        </p:nvSpPr>
        <p:spPr>
          <a:xfrm>
            <a:off x="685800" y="822960"/>
            <a:ext cx="10820095" cy="256032"/>
          </a:xfrm>
          <a:prstGeom prst="rect">
            <a:avLst/>
          </a:prstGeom>
          <a:noFill/>
        </p:spPr>
        <p:txBody>
          <a:bodyPr wrap="square"/>
          <a:lstStyle/>
          <a:p>
            <a:pPr algn="l"/>
            <a:r>
              <a:rPr sz="850" b="1" i="0">
                <a:solidFill>
                  <a:srgbClr val="2563EB"/>
                </a:solidFill>
                <a:latin typeface="Calibri"/>
              </a:rPr>
              <a:t>HOW DECISIONS ARE MADE TODAY</a:t>
            </a:r>
          </a:p>
        </p:txBody>
      </p:sp>
      <p:sp>
        <p:nvSpPr>
          <p:cNvPr id="11" name="Rectangle 10"/>
          <p:cNvSpPr/>
          <p:nvPr/>
        </p:nvSpPr>
        <p:spPr>
          <a:xfrm>
            <a:off x="685800" y="1234440"/>
            <a:ext cx="402336" cy="420624"/>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234440"/>
            <a:ext cx="402336" cy="438912"/>
          </a:xfrm>
          <a:prstGeom prst="rect">
            <a:avLst/>
          </a:prstGeom>
          <a:noFill/>
        </p:spPr>
        <p:txBody>
          <a:bodyPr wrap="square"/>
          <a:lstStyle/>
          <a:p>
            <a:pPr algn="ctr"/>
            <a:r>
              <a:rPr sz="1000" b="1" i="0">
                <a:solidFill>
                  <a:srgbClr val="FFFFFF"/>
                </a:solidFill>
                <a:latin typeface="Calibri"/>
              </a:rPr>
              <a:t>01</a:t>
            </a:r>
          </a:p>
        </p:txBody>
      </p:sp>
      <p:sp>
        <p:nvSpPr>
          <p:cNvPr id="13" name="TextBox 12"/>
          <p:cNvSpPr txBox="1"/>
          <p:nvPr/>
        </p:nvSpPr>
        <p:spPr>
          <a:xfrm>
            <a:off x="1197864" y="1271016"/>
            <a:ext cx="4572000" cy="384048"/>
          </a:xfrm>
          <a:prstGeom prst="rect">
            <a:avLst/>
          </a:prstGeom>
          <a:noFill/>
        </p:spPr>
        <p:txBody>
          <a:bodyPr wrap="square"/>
          <a:lstStyle/>
          <a:p>
            <a:pPr algn="l"/>
            <a:r>
              <a:rPr sz="1100" b="0" i="0">
                <a:solidFill>
                  <a:srgbClr val="111827"/>
                </a:solidFill>
                <a:latin typeface="Calibri"/>
              </a:rPr>
              <a:t>Policy set as a static document</a:t>
            </a:r>
          </a:p>
        </p:txBody>
      </p:sp>
      <p:sp>
        <p:nvSpPr>
          <p:cNvPr id="14" name="Rectangle 13"/>
          <p:cNvSpPr/>
          <p:nvPr/>
        </p:nvSpPr>
        <p:spPr>
          <a:xfrm>
            <a:off x="685800" y="1892808"/>
            <a:ext cx="402336" cy="420624"/>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892808"/>
            <a:ext cx="402336" cy="438912"/>
          </a:xfrm>
          <a:prstGeom prst="rect">
            <a:avLst/>
          </a:prstGeom>
          <a:noFill/>
        </p:spPr>
        <p:txBody>
          <a:bodyPr wrap="square"/>
          <a:lstStyle/>
          <a:p>
            <a:pPr algn="ctr"/>
            <a:r>
              <a:rPr sz="1000" b="1" i="0">
                <a:solidFill>
                  <a:srgbClr val="FFFFFF"/>
                </a:solidFill>
                <a:latin typeface="Calibri"/>
              </a:rPr>
              <a:t>02</a:t>
            </a:r>
          </a:p>
        </p:txBody>
      </p:sp>
      <p:sp>
        <p:nvSpPr>
          <p:cNvPr id="16" name="TextBox 15"/>
          <p:cNvSpPr txBox="1"/>
          <p:nvPr/>
        </p:nvSpPr>
        <p:spPr>
          <a:xfrm>
            <a:off x="1197864" y="1929384"/>
            <a:ext cx="4572000" cy="384048"/>
          </a:xfrm>
          <a:prstGeom prst="rect">
            <a:avLst/>
          </a:prstGeom>
          <a:noFill/>
        </p:spPr>
        <p:txBody>
          <a:bodyPr wrap="square"/>
          <a:lstStyle/>
          <a:p>
            <a:pPr algn="l"/>
            <a:r>
              <a:rPr sz="1100" b="0" i="0">
                <a:solidFill>
                  <a:srgbClr val="111827"/>
                </a:solidFill>
                <a:latin typeface="Calibri"/>
              </a:rPr>
              <a:t>Travellers book — often on consumer tools, outside policy</a:t>
            </a:r>
          </a:p>
        </p:txBody>
      </p:sp>
      <p:sp>
        <p:nvSpPr>
          <p:cNvPr id="17" name="Rectangle 16"/>
          <p:cNvSpPr/>
          <p:nvPr/>
        </p:nvSpPr>
        <p:spPr>
          <a:xfrm>
            <a:off x="685800" y="2551176"/>
            <a:ext cx="402336" cy="420624"/>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551176"/>
            <a:ext cx="402336" cy="438912"/>
          </a:xfrm>
          <a:prstGeom prst="rect">
            <a:avLst/>
          </a:prstGeom>
          <a:noFill/>
        </p:spPr>
        <p:txBody>
          <a:bodyPr wrap="square"/>
          <a:lstStyle/>
          <a:p>
            <a:pPr algn="ctr"/>
            <a:r>
              <a:rPr sz="1000" b="1" i="0">
                <a:solidFill>
                  <a:srgbClr val="FFFFFF"/>
                </a:solidFill>
                <a:latin typeface="Calibri"/>
              </a:rPr>
              <a:t>03</a:t>
            </a:r>
          </a:p>
        </p:txBody>
      </p:sp>
      <p:sp>
        <p:nvSpPr>
          <p:cNvPr id="19" name="TextBox 18"/>
          <p:cNvSpPr txBox="1"/>
          <p:nvPr/>
        </p:nvSpPr>
        <p:spPr>
          <a:xfrm>
            <a:off x="1197864" y="2587752"/>
            <a:ext cx="4572000" cy="384048"/>
          </a:xfrm>
          <a:prstGeom prst="rect">
            <a:avLst/>
          </a:prstGeom>
          <a:noFill/>
        </p:spPr>
        <p:txBody>
          <a:bodyPr wrap="square"/>
          <a:lstStyle/>
          <a:p>
            <a:pPr algn="l"/>
            <a:r>
              <a:rPr sz="1100" b="0" i="0">
                <a:solidFill>
                  <a:srgbClr val="111827"/>
                </a:solidFill>
                <a:latin typeface="Calibri"/>
              </a:rPr>
              <a:t>Finance reconciles spend after the fact</a:t>
            </a:r>
          </a:p>
        </p:txBody>
      </p:sp>
      <p:sp>
        <p:nvSpPr>
          <p:cNvPr id="20" name="Rectangle 19"/>
          <p:cNvSpPr/>
          <p:nvPr/>
        </p:nvSpPr>
        <p:spPr>
          <a:xfrm>
            <a:off x="685800" y="3209544"/>
            <a:ext cx="402336" cy="420624"/>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3209544"/>
            <a:ext cx="402336" cy="438912"/>
          </a:xfrm>
          <a:prstGeom prst="rect">
            <a:avLst/>
          </a:prstGeom>
          <a:noFill/>
        </p:spPr>
        <p:txBody>
          <a:bodyPr wrap="square"/>
          <a:lstStyle/>
          <a:p>
            <a:pPr algn="ctr"/>
            <a:r>
              <a:rPr sz="1000" b="1" i="0">
                <a:solidFill>
                  <a:srgbClr val="FFFFFF"/>
                </a:solidFill>
                <a:latin typeface="Calibri"/>
              </a:rPr>
              <a:t>04</a:t>
            </a:r>
          </a:p>
        </p:txBody>
      </p:sp>
      <p:sp>
        <p:nvSpPr>
          <p:cNvPr id="22" name="TextBox 21"/>
          <p:cNvSpPr txBox="1"/>
          <p:nvPr/>
        </p:nvSpPr>
        <p:spPr>
          <a:xfrm>
            <a:off x="1197864" y="3246120"/>
            <a:ext cx="4572000" cy="384048"/>
          </a:xfrm>
          <a:prstGeom prst="rect">
            <a:avLst/>
          </a:prstGeom>
          <a:noFill/>
        </p:spPr>
        <p:txBody>
          <a:bodyPr wrap="square"/>
          <a:lstStyle/>
          <a:p>
            <a:pPr algn="l"/>
            <a:r>
              <a:rPr sz="1100" b="0" i="0">
                <a:solidFill>
                  <a:srgbClr val="111827"/>
                </a:solidFill>
                <a:latin typeface="Calibri"/>
              </a:rPr>
              <a:t>Carbon estimated annually from expense data, using averages</a:t>
            </a:r>
          </a:p>
        </p:txBody>
      </p:sp>
      <p:sp>
        <p:nvSpPr>
          <p:cNvPr id="23" name="Rectangle 22"/>
          <p:cNvSpPr/>
          <p:nvPr/>
        </p:nvSpPr>
        <p:spPr>
          <a:xfrm>
            <a:off x="685800" y="3867912"/>
            <a:ext cx="402336" cy="420624"/>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867912"/>
            <a:ext cx="402336" cy="438912"/>
          </a:xfrm>
          <a:prstGeom prst="rect">
            <a:avLst/>
          </a:prstGeom>
          <a:noFill/>
        </p:spPr>
        <p:txBody>
          <a:bodyPr wrap="square"/>
          <a:lstStyle/>
          <a:p>
            <a:pPr algn="ctr"/>
            <a:r>
              <a:rPr sz="1000" b="1" i="0">
                <a:solidFill>
                  <a:srgbClr val="FFFFFF"/>
                </a:solidFill>
                <a:latin typeface="Calibri"/>
              </a:rPr>
              <a:t>05</a:t>
            </a:r>
          </a:p>
        </p:txBody>
      </p:sp>
      <p:sp>
        <p:nvSpPr>
          <p:cNvPr id="25" name="TextBox 24"/>
          <p:cNvSpPr txBox="1"/>
          <p:nvPr/>
        </p:nvSpPr>
        <p:spPr>
          <a:xfrm>
            <a:off x="1197864" y="3904488"/>
            <a:ext cx="4572000" cy="384048"/>
          </a:xfrm>
          <a:prstGeom prst="rect">
            <a:avLst/>
          </a:prstGeom>
          <a:noFill/>
        </p:spPr>
        <p:txBody>
          <a:bodyPr wrap="square"/>
          <a:lstStyle/>
          <a:p>
            <a:pPr algn="l"/>
            <a:r>
              <a:rPr sz="1100" b="0" i="0">
                <a:solidFill>
                  <a:srgbClr val="111827"/>
                </a:solidFill>
                <a:latin typeface="Calibri"/>
              </a:rPr>
              <a:t>No real-time view of compliance or ESG alignment</a:t>
            </a:r>
          </a:p>
        </p:txBody>
      </p:sp>
      <p:sp>
        <p:nvSpPr>
          <p:cNvPr id="26" name="Rectangle 25"/>
          <p:cNvSpPr/>
          <p:nvPr/>
        </p:nvSpPr>
        <p:spPr>
          <a:xfrm>
            <a:off x="5989320" y="822960"/>
            <a:ext cx="22860" cy="555955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822960"/>
            <a:ext cx="10820095" cy="256032"/>
          </a:xfrm>
          <a:prstGeom prst="rect">
            <a:avLst/>
          </a:prstGeom>
          <a:noFill/>
        </p:spPr>
        <p:txBody>
          <a:bodyPr wrap="square"/>
          <a:lstStyle/>
          <a:p>
            <a:pPr algn="l"/>
            <a:r>
              <a:rPr sz="850" b="1" i="0">
                <a:solidFill>
                  <a:srgbClr val="2563EB"/>
                </a:solidFill>
                <a:latin typeface="Calibri"/>
              </a:rPr>
              <a:t>WHAT AI MAKES ACHIEVABLE NOW</a:t>
            </a:r>
          </a:p>
        </p:txBody>
      </p:sp>
      <p:sp>
        <p:nvSpPr>
          <p:cNvPr id="28" name="TextBox 27"/>
          <p:cNvSpPr txBox="1"/>
          <p:nvPr/>
        </p:nvSpPr>
        <p:spPr>
          <a:xfrm>
            <a:off x="6190488" y="1143000"/>
            <a:ext cx="5287975" cy="274320"/>
          </a:xfrm>
          <a:prstGeom prst="rect">
            <a:avLst/>
          </a:prstGeom>
          <a:noFill/>
        </p:spPr>
        <p:txBody>
          <a:bodyPr wrap="square"/>
          <a:lstStyle/>
          <a:p>
            <a:pPr algn="l"/>
            <a:r>
              <a:rPr sz="1050" b="1" i="0">
                <a:solidFill>
                  <a:srgbClr val="0E2C54"/>
                </a:solidFill>
                <a:latin typeface="Calibri"/>
              </a:rPr>
              <a:t>Policy compliance</a:t>
            </a:r>
          </a:p>
        </p:txBody>
      </p:sp>
      <p:sp>
        <p:nvSpPr>
          <p:cNvPr id="29" name="TextBox 28"/>
          <p:cNvSpPr txBox="1"/>
          <p:nvPr/>
        </p:nvSpPr>
        <p:spPr>
          <a:xfrm>
            <a:off x="6190488" y="1417320"/>
            <a:ext cx="5287975" cy="347472"/>
          </a:xfrm>
          <a:prstGeom prst="rect">
            <a:avLst/>
          </a:prstGeom>
          <a:noFill/>
        </p:spPr>
        <p:txBody>
          <a:bodyPr wrap="square"/>
          <a:lstStyle/>
          <a:p>
            <a:pPr algn="l"/>
            <a:r>
              <a:rPr sz="1000" b="0" i="0">
                <a:solidFill>
                  <a:srgbClr val="111827"/>
                </a:solidFill>
                <a:latin typeface="Calibri"/>
              </a:rPr>
              <a:t>Assessed at booking time — not reconciled after the fact</a:t>
            </a:r>
          </a:p>
        </p:txBody>
      </p:sp>
      <p:sp>
        <p:nvSpPr>
          <p:cNvPr id="30" name="TextBox 29"/>
          <p:cNvSpPr txBox="1"/>
          <p:nvPr/>
        </p:nvSpPr>
        <p:spPr>
          <a:xfrm>
            <a:off x="6190488" y="1801368"/>
            <a:ext cx="5287975" cy="274320"/>
          </a:xfrm>
          <a:prstGeom prst="rect">
            <a:avLst/>
          </a:prstGeom>
          <a:noFill/>
        </p:spPr>
        <p:txBody>
          <a:bodyPr wrap="square"/>
          <a:lstStyle/>
          <a:p>
            <a:pPr algn="l"/>
            <a:r>
              <a:rPr sz="1050" b="1" i="0">
                <a:solidFill>
                  <a:srgbClr val="0E2C54"/>
                </a:solidFill>
                <a:latin typeface="Calibri"/>
              </a:rPr>
              <a:t>Carbon attribution</a:t>
            </a:r>
          </a:p>
        </p:txBody>
      </p:sp>
      <p:sp>
        <p:nvSpPr>
          <p:cNvPr id="31" name="TextBox 30"/>
          <p:cNvSpPr txBox="1"/>
          <p:nvPr/>
        </p:nvSpPr>
        <p:spPr>
          <a:xfrm>
            <a:off x="6190488" y="2075688"/>
            <a:ext cx="5287975" cy="347472"/>
          </a:xfrm>
          <a:prstGeom prst="rect">
            <a:avLst/>
          </a:prstGeom>
          <a:noFill/>
        </p:spPr>
        <p:txBody>
          <a:bodyPr wrap="square"/>
          <a:lstStyle/>
          <a:p>
            <a:pPr algn="l"/>
            <a:r>
              <a:rPr sz="1000" b="0" i="0">
                <a:solidFill>
                  <a:srgbClr val="111827"/>
                </a:solidFill>
                <a:latin typeface="Calibri"/>
              </a:rPr>
              <a:t>Per-trip, route-level, using ICAO aircraft-type methodology</a:t>
            </a:r>
          </a:p>
        </p:txBody>
      </p:sp>
      <p:sp>
        <p:nvSpPr>
          <p:cNvPr id="32" name="TextBox 31"/>
          <p:cNvSpPr txBox="1"/>
          <p:nvPr/>
        </p:nvSpPr>
        <p:spPr>
          <a:xfrm>
            <a:off x="6190488" y="2459736"/>
            <a:ext cx="5287975" cy="274320"/>
          </a:xfrm>
          <a:prstGeom prst="rect">
            <a:avLst/>
          </a:prstGeom>
          <a:noFill/>
        </p:spPr>
        <p:txBody>
          <a:bodyPr wrap="square"/>
          <a:lstStyle/>
          <a:p>
            <a:pPr algn="l"/>
            <a:r>
              <a:rPr sz="1050" b="1" i="0">
                <a:solidFill>
                  <a:srgbClr val="0E2C54"/>
                </a:solidFill>
                <a:latin typeface="Calibri"/>
              </a:rPr>
              <a:t>Pricing context</a:t>
            </a:r>
          </a:p>
        </p:txBody>
      </p:sp>
      <p:sp>
        <p:nvSpPr>
          <p:cNvPr id="33" name="TextBox 32"/>
          <p:cNvSpPr txBox="1"/>
          <p:nvPr/>
        </p:nvSpPr>
        <p:spPr>
          <a:xfrm>
            <a:off x="6190488" y="2734056"/>
            <a:ext cx="5287975" cy="347472"/>
          </a:xfrm>
          <a:prstGeom prst="rect">
            <a:avLst/>
          </a:prstGeom>
          <a:noFill/>
        </p:spPr>
        <p:txBody>
          <a:bodyPr wrap="square"/>
          <a:lstStyle/>
          <a:p>
            <a:pPr algn="l"/>
            <a:r>
              <a:rPr sz="1000" b="0" i="0">
                <a:solidFill>
                  <a:srgbClr val="111827"/>
                </a:solidFill>
                <a:latin typeface="Calibri"/>
              </a:rPr>
              <a:t>Historical and forward patterns surfaced at decision time</a:t>
            </a:r>
          </a:p>
        </p:txBody>
      </p:sp>
      <p:sp>
        <p:nvSpPr>
          <p:cNvPr id="34" name="TextBox 33"/>
          <p:cNvSpPr txBox="1"/>
          <p:nvPr/>
        </p:nvSpPr>
        <p:spPr>
          <a:xfrm>
            <a:off x="6190488" y="3118104"/>
            <a:ext cx="5287975" cy="274320"/>
          </a:xfrm>
          <a:prstGeom prst="rect">
            <a:avLst/>
          </a:prstGeom>
          <a:noFill/>
        </p:spPr>
        <p:txBody>
          <a:bodyPr wrap="square"/>
          <a:lstStyle/>
          <a:p>
            <a:pPr algn="l"/>
            <a:r>
              <a:rPr sz="1050" b="1" i="0">
                <a:solidFill>
                  <a:srgbClr val="0E2C54"/>
                </a:solidFill>
                <a:latin typeface="Calibri"/>
              </a:rPr>
              <a:t>Destination intelligence</a:t>
            </a:r>
          </a:p>
        </p:txBody>
      </p:sp>
      <p:sp>
        <p:nvSpPr>
          <p:cNvPr id="35" name="TextBox 34"/>
          <p:cNvSpPr txBox="1"/>
          <p:nvPr/>
        </p:nvSpPr>
        <p:spPr>
          <a:xfrm>
            <a:off x="6190488" y="3392424"/>
            <a:ext cx="5287975" cy="347472"/>
          </a:xfrm>
          <a:prstGeom prst="rect">
            <a:avLst/>
          </a:prstGeom>
          <a:noFill/>
        </p:spPr>
        <p:txBody>
          <a:bodyPr wrap="square"/>
          <a:lstStyle/>
          <a:p>
            <a:pPr algn="l"/>
            <a:r>
              <a:rPr sz="1000" b="0" i="0">
                <a:solidFill>
                  <a:srgbClr val="111827"/>
                </a:solidFill>
                <a:latin typeface="Calibri"/>
              </a:rPr>
              <a:t>Risk, visa, and advisory data synthesised in real time</a:t>
            </a:r>
          </a:p>
        </p:txBody>
      </p:sp>
      <p:sp>
        <p:nvSpPr>
          <p:cNvPr id="36" name="TextBox 35"/>
          <p:cNvSpPr txBox="1"/>
          <p:nvPr/>
        </p:nvSpPr>
        <p:spPr>
          <a:xfrm>
            <a:off x="6190488" y="3776472"/>
            <a:ext cx="5287975" cy="274320"/>
          </a:xfrm>
          <a:prstGeom prst="rect">
            <a:avLst/>
          </a:prstGeom>
          <a:noFill/>
        </p:spPr>
        <p:txBody>
          <a:bodyPr wrap="square"/>
          <a:lstStyle/>
          <a:p>
            <a:pPr algn="l"/>
            <a:r>
              <a:rPr sz="1050" b="1" i="0">
                <a:solidFill>
                  <a:srgbClr val="0E2C54"/>
                </a:solidFill>
                <a:latin typeface="Calibri"/>
              </a:rPr>
              <a:t>Programme analytics</a:t>
            </a:r>
          </a:p>
        </p:txBody>
      </p:sp>
      <p:sp>
        <p:nvSpPr>
          <p:cNvPr id="37" name="TextBox 36"/>
          <p:cNvSpPr txBox="1"/>
          <p:nvPr/>
        </p:nvSpPr>
        <p:spPr>
          <a:xfrm>
            <a:off x="6190488" y="4050792"/>
            <a:ext cx="5287975" cy="347472"/>
          </a:xfrm>
          <a:prstGeom prst="rect">
            <a:avLst/>
          </a:prstGeom>
          <a:noFill/>
        </p:spPr>
        <p:txBody>
          <a:bodyPr wrap="square"/>
          <a:lstStyle/>
          <a:p>
            <a:pPr algn="l"/>
            <a:r>
              <a:rPr sz="1000" b="0" i="0">
                <a:solidFill>
                  <a:srgbClr val="111827"/>
                </a:solidFill>
                <a:latin typeface="Calibri"/>
              </a:rPr>
              <a:t>Continuous visibility — not an annual report</a:t>
            </a:r>
          </a:p>
        </p:txBody>
      </p:sp>
      <p:sp>
        <p:nvSpPr>
          <p:cNvPr id="38" name="Rectangle 37"/>
          <p:cNvSpPr/>
          <p:nvPr/>
        </p:nvSpPr>
        <p:spPr>
          <a:xfrm>
            <a:off x="685800" y="5943600"/>
            <a:ext cx="10820095" cy="457200"/>
          </a:xfrm>
          <a:prstGeom prst="rect">
            <a:avLst/>
          </a:prstGeom>
          <a:solidFill>
            <a:srgbClr val="EBF2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6007608"/>
            <a:ext cx="10545775" cy="347472"/>
          </a:xfrm>
          <a:prstGeom prst="rect">
            <a:avLst/>
          </a:prstGeom>
          <a:noFill/>
        </p:spPr>
        <p:txBody>
          <a:bodyPr wrap="square"/>
          <a:lstStyle/>
          <a:p>
            <a:pPr algn="l"/>
            <a:r>
              <a:rPr sz="950" b="0" i="1">
                <a:solidFill>
                  <a:srgbClr val="0E2C54"/>
                </a:solidFill>
                <a:latin typeface="Calibri"/>
              </a:rPr>
              <a:t>The opportunity is not to build a better booking tool. It is to build the intelligence infrastructure that makes every corporate travel decision better.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04</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Why Existing Platforms Fall Short</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4 / 12</a:t>
            </a:r>
          </a:p>
        </p:txBody>
      </p:sp>
      <p:sp>
        <p:nvSpPr>
          <p:cNvPr id="10" name="TextBox 9"/>
          <p:cNvSpPr txBox="1"/>
          <p:nvPr/>
        </p:nvSpPr>
        <p:spPr>
          <a:xfrm>
            <a:off x="685800" y="822960"/>
            <a:ext cx="10820095" cy="320040"/>
          </a:xfrm>
          <a:prstGeom prst="rect">
            <a:avLst/>
          </a:prstGeom>
          <a:noFill/>
        </p:spPr>
        <p:txBody>
          <a:bodyPr wrap="square"/>
          <a:lstStyle/>
          <a:p>
            <a:pPr algn="l"/>
            <a:r>
              <a:rPr sz="1100" b="0" i="1">
                <a:solidFill>
                  <a:srgbClr val="6B7280"/>
                </a:solidFill>
                <a:latin typeface="Calibri"/>
              </a:rPr>
              <a:t>The gap is not from lack of trying. Navan, SAP Concur, TravelPerk, and Spotnana have all introduced intelligence features. The constraint is architectural, not commercial.</a:t>
            </a:r>
          </a:p>
        </p:txBody>
      </p:sp>
      <p:sp>
        <p:nvSpPr>
          <p:cNvPr id="11" name="Rectangle 10"/>
          <p:cNvSpPr/>
          <p:nvPr/>
        </p:nvSpPr>
        <p:spPr>
          <a:xfrm>
            <a:off x="685800" y="1234440"/>
            <a:ext cx="1920240" cy="384048"/>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298448"/>
            <a:ext cx="1810512" cy="292608"/>
          </a:xfrm>
          <a:prstGeom prst="rect">
            <a:avLst/>
          </a:prstGeom>
          <a:noFill/>
        </p:spPr>
        <p:txBody>
          <a:bodyPr wrap="square"/>
          <a:lstStyle/>
          <a:p>
            <a:pPr algn="l"/>
            <a:r>
              <a:rPr sz="950" b="1" i="0">
                <a:solidFill>
                  <a:srgbClr val="FFFFFF"/>
                </a:solidFill>
                <a:latin typeface="Calibri"/>
              </a:rPr>
              <a:t>Platform</a:t>
            </a:r>
          </a:p>
        </p:txBody>
      </p:sp>
      <p:sp>
        <p:nvSpPr>
          <p:cNvPr id="13" name="Rectangle 12"/>
          <p:cNvSpPr/>
          <p:nvPr/>
        </p:nvSpPr>
        <p:spPr>
          <a:xfrm>
            <a:off x="2606040" y="1234440"/>
            <a:ext cx="2834640" cy="384048"/>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7480" y="1298448"/>
            <a:ext cx="2724912" cy="292608"/>
          </a:xfrm>
          <a:prstGeom prst="rect">
            <a:avLst/>
          </a:prstGeom>
          <a:noFill/>
        </p:spPr>
        <p:txBody>
          <a:bodyPr wrap="square"/>
          <a:lstStyle/>
          <a:p>
            <a:pPr algn="l"/>
            <a:r>
              <a:rPr sz="950" b="1" i="0">
                <a:solidFill>
                  <a:srgbClr val="FFFFFF"/>
                </a:solidFill>
                <a:latin typeface="Calibri"/>
              </a:rPr>
              <a:t>Design Priority</a:t>
            </a:r>
          </a:p>
        </p:txBody>
      </p:sp>
      <p:sp>
        <p:nvSpPr>
          <p:cNvPr id="15" name="Rectangle 14"/>
          <p:cNvSpPr/>
          <p:nvPr/>
        </p:nvSpPr>
        <p:spPr>
          <a:xfrm>
            <a:off x="5440680" y="1234440"/>
            <a:ext cx="6035040" cy="384048"/>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298448"/>
            <a:ext cx="5925312" cy="292608"/>
          </a:xfrm>
          <a:prstGeom prst="rect">
            <a:avLst/>
          </a:prstGeom>
          <a:noFill/>
        </p:spPr>
        <p:txBody>
          <a:bodyPr wrap="square"/>
          <a:lstStyle/>
          <a:p>
            <a:pPr algn="l"/>
            <a:r>
              <a:rPr sz="950" b="1" i="0">
                <a:solidFill>
                  <a:srgbClr val="FFFFFF"/>
                </a:solidFill>
                <a:latin typeface="Calibri"/>
              </a:rPr>
              <a:t>Intelligence Limitation</a:t>
            </a:r>
          </a:p>
        </p:txBody>
      </p:sp>
      <p:sp>
        <p:nvSpPr>
          <p:cNvPr id="17" name="Rectangle 16"/>
          <p:cNvSpPr/>
          <p:nvPr/>
        </p:nvSpPr>
        <p:spPr>
          <a:xfrm>
            <a:off x="685800" y="1618488"/>
            <a:ext cx="1920240" cy="38404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1682496"/>
            <a:ext cx="1810512" cy="292608"/>
          </a:xfrm>
          <a:prstGeom prst="rect">
            <a:avLst/>
          </a:prstGeom>
          <a:noFill/>
        </p:spPr>
        <p:txBody>
          <a:bodyPr wrap="square"/>
          <a:lstStyle/>
          <a:p>
            <a:pPr algn="l"/>
            <a:r>
              <a:rPr sz="1000" b="1" i="0">
                <a:solidFill>
                  <a:srgbClr val="0E2C54"/>
                </a:solidFill>
                <a:latin typeface="Calibri"/>
              </a:rPr>
              <a:t>Navan</a:t>
            </a:r>
          </a:p>
        </p:txBody>
      </p:sp>
      <p:sp>
        <p:nvSpPr>
          <p:cNvPr id="19" name="Rectangle 18"/>
          <p:cNvSpPr/>
          <p:nvPr/>
        </p:nvSpPr>
        <p:spPr>
          <a:xfrm>
            <a:off x="2606040" y="1618488"/>
            <a:ext cx="2834640" cy="38404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1682496"/>
            <a:ext cx="2724912" cy="292608"/>
          </a:xfrm>
          <a:prstGeom prst="rect">
            <a:avLst/>
          </a:prstGeom>
          <a:noFill/>
        </p:spPr>
        <p:txBody>
          <a:bodyPr wrap="square"/>
          <a:lstStyle/>
          <a:p>
            <a:pPr algn="l"/>
            <a:r>
              <a:rPr sz="1000" b="0" i="0">
                <a:solidFill>
                  <a:srgbClr val="111827"/>
                </a:solidFill>
                <a:latin typeface="Calibri"/>
              </a:rPr>
              <a:t>Booking and expense consolidation</a:t>
            </a:r>
          </a:p>
        </p:txBody>
      </p:sp>
      <p:sp>
        <p:nvSpPr>
          <p:cNvPr id="21" name="Rectangle 20"/>
          <p:cNvSpPr/>
          <p:nvPr/>
        </p:nvSpPr>
        <p:spPr>
          <a:xfrm>
            <a:off x="5440680" y="1618488"/>
            <a:ext cx="6035040" cy="38404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32120" y="1682496"/>
            <a:ext cx="5925312" cy="292608"/>
          </a:xfrm>
          <a:prstGeom prst="rect">
            <a:avLst/>
          </a:prstGeom>
          <a:noFill/>
        </p:spPr>
        <p:txBody>
          <a:bodyPr wrap="square"/>
          <a:lstStyle/>
          <a:p>
            <a:pPr algn="l"/>
            <a:r>
              <a:rPr sz="1000" b="0" i="0">
                <a:solidFill>
                  <a:srgbClr val="111827"/>
                </a:solidFill>
                <a:latin typeface="Calibri"/>
              </a:rPr>
              <a:t>Carbon tracking from spend categories. ICAO-level aircraft methodology not achievable from a booking-first data model.</a:t>
            </a:r>
          </a:p>
        </p:txBody>
      </p:sp>
      <p:sp>
        <p:nvSpPr>
          <p:cNvPr id="23" name="Rectangle 22"/>
          <p:cNvSpPr/>
          <p:nvPr/>
        </p:nvSpPr>
        <p:spPr>
          <a:xfrm>
            <a:off x="685800" y="2002536"/>
            <a:ext cx="1920240" cy="38404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2066544"/>
            <a:ext cx="1810512" cy="292608"/>
          </a:xfrm>
          <a:prstGeom prst="rect">
            <a:avLst/>
          </a:prstGeom>
          <a:noFill/>
        </p:spPr>
        <p:txBody>
          <a:bodyPr wrap="square"/>
          <a:lstStyle/>
          <a:p>
            <a:pPr algn="l"/>
            <a:r>
              <a:rPr sz="1000" b="1" i="0">
                <a:solidFill>
                  <a:srgbClr val="0E2C54"/>
                </a:solidFill>
                <a:latin typeface="Calibri"/>
              </a:rPr>
              <a:t>SAP Concur</a:t>
            </a:r>
          </a:p>
        </p:txBody>
      </p:sp>
      <p:sp>
        <p:nvSpPr>
          <p:cNvPr id="25" name="Rectangle 24"/>
          <p:cNvSpPr/>
          <p:nvPr/>
        </p:nvSpPr>
        <p:spPr>
          <a:xfrm>
            <a:off x="2606040" y="2002536"/>
            <a:ext cx="2834640" cy="38404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97480" y="2066544"/>
            <a:ext cx="2724912" cy="292608"/>
          </a:xfrm>
          <a:prstGeom prst="rect">
            <a:avLst/>
          </a:prstGeom>
          <a:noFill/>
        </p:spPr>
        <p:txBody>
          <a:bodyPr wrap="square"/>
          <a:lstStyle/>
          <a:p>
            <a:pPr algn="l"/>
            <a:r>
              <a:rPr sz="1000" b="0" i="0">
                <a:solidFill>
                  <a:srgbClr val="111827"/>
                </a:solidFill>
                <a:latin typeface="Calibri"/>
              </a:rPr>
              <a:t>ERP integration and expense management</a:t>
            </a:r>
          </a:p>
        </p:txBody>
      </p:sp>
      <p:sp>
        <p:nvSpPr>
          <p:cNvPr id="27" name="Rectangle 26"/>
          <p:cNvSpPr/>
          <p:nvPr/>
        </p:nvSpPr>
        <p:spPr>
          <a:xfrm>
            <a:off x="5440680" y="2002536"/>
            <a:ext cx="6035040" cy="38404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532120" y="2066544"/>
            <a:ext cx="5925312" cy="292608"/>
          </a:xfrm>
          <a:prstGeom prst="rect">
            <a:avLst/>
          </a:prstGeom>
          <a:noFill/>
        </p:spPr>
        <p:txBody>
          <a:bodyPr wrap="square"/>
          <a:lstStyle/>
          <a:p>
            <a:pPr algn="l"/>
            <a:r>
              <a:rPr sz="1000" b="0" i="0">
                <a:solidFill>
                  <a:srgbClr val="111827"/>
                </a:solidFill>
                <a:latin typeface="Calibri"/>
              </a:rPr>
              <a:t>Sustainability module uses average industry factors. Policy compliance is rule-based matching, not AI reasoning.</a:t>
            </a:r>
          </a:p>
        </p:txBody>
      </p:sp>
      <p:sp>
        <p:nvSpPr>
          <p:cNvPr id="29" name="Rectangle 28"/>
          <p:cNvSpPr/>
          <p:nvPr/>
        </p:nvSpPr>
        <p:spPr>
          <a:xfrm>
            <a:off x="685800" y="2386584"/>
            <a:ext cx="1920240" cy="38404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2450592"/>
            <a:ext cx="1810512" cy="292608"/>
          </a:xfrm>
          <a:prstGeom prst="rect">
            <a:avLst/>
          </a:prstGeom>
          <a:noFill/>
        </p:spPr>
        <p:txBody>
          <a:bodyPr wrap="square"/>
          <a:lstStyle/>
          <a:p>
            <a:pPr algn="l"/>
            <a:r>
              <a:rPr sz="1000" b="1" i="0">
                <a:solidFill>
                  <a:srgbClr val="0E2C54"/>
                </a:solidFill>
                <a:latin typeface="Calibri"/>
              </a:rPr>
              <a:t>TravelPerk</a:t>
            </a:r>
          </a:p>
        </p:txBody>
      </p:sp>
      <p:sp>
        <p:nvSpPr>
          <p:cNvPr id="31" name="Rectangle 30"/>
          <p:cNvSpPr/>
          <p:nvPr/>
        </p:nvSpPr>
        <p:spPr>
          <a:xfrm>
            <a:off x="2606040" y="2386584"/>
            <a:ext cx="2834640" cy="38404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97480" y="2450592"/>
            <a:ext cx="2724912" cy="292608"/>
          </a:xfrm>
          <a:prstGeom prst="rect">
            <a:avLst/>
          </a:prstGeom>
          <a:noFill/>
        </p:spPr>
        <p:txBody>
          <a:bodyPr wrap="square"/>
          <a:lstStyle/>
          <a:p>
            <a:pPr algn="l"/>
            <a:r>
              <a:rPr sz="1000" b="0" i="0">
                <a:solidFill>
                  <a:srgbClr val="111827"/>
                </a:solidFill>
                <a:latin typeface="Calibri"/>
              </a:rPr>
              <a:t>SME booking experience</a:t>
            </a:r>
          </a:p>
        </p:txBody>
      </p:sp>
      <p:sp>
        <p:nvSpPr>
          <p:cNvPr id="33" name="Rectangle 32"/>
          <p:cNvSpPr/>
          <p:nvPr/>
        </p:nvSpPr>
        <p:spPr>
          <a:xfrm>
            <a:off x="5440680" y="2386584"/>
            <a:ext cx="6035040" cy="38404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32120" y="2450592"/>
            <a:ext cx="5925312" cy="292608"/>
          </a:xfrm>
          <a:prstGeom prst="rect">
            <a:avLst/>
          </a:prstGeom>
          <a:noFill/>
        </p:spPr>
        <p:txBody>
          <a:bodyPr wrap="square"/>
          <a:lstStyle/>
          <a:p>
            <a:pPr algn="l"/>
            <a:r>
              <a:rPr sz="1000" b="0" i="0">
                <a:solidFill>
                  <a:srgbClr val="111827"/>
                </a:solidFill>
                <a:latin typeface="Calibri"/>
              </a:rPr>
              <a:t>Intelligence features are extensions to the booking workflow. Not designed for CSRD audit readiness.</a:t>
            </a:r>
          </a:p>
        </p:txBody>
      </p:sp>
      <p:sp>
        <p:nvSpPr>
          <p:cNvPr id="35" name="Rectangle 34"/>
          <p:cNvSpPr/>
          <p:nvPr/>
        </p:nvSpPr>
        <p:spPr>
          <a:xfrm>
            <a:off x="685800" y="2770632"/>
            <a:ext cx="1920240" cy="38404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2834640"/>
            <a:ext cx="1810512" cy="292608"/>
          </a:xfrm>
          <a:prstGeom prst="rect">
            <a:avLst/>
          </a:prstGeom>
          <a:noFill/>
        </p:spPr>
        <p:txBody>
          <a:bodyPr wrap="square"/>
          <a:lstStyle/>
          <a:p>
            <a:pPr algn="l"/>
            <a:r>
              <a:rPr sz="1000" b="1" i="0">
                <a:solidFill>
                  <a:srgbClr val="0E2C54"/>
                </a:solidFill>
                <a:latin typeface="Calibri"/>
              </a:rPr>
              <a:t>Spotnana</a:t>
            </a:r>
          </a:p>
        </p:txBody>
      </p:sp>
      <p:sp>
        <p:nvSpPr>
          <p:cNvPr id="37" name="Rectangle 36"/>
          <p:cNvSpPr/>
          <p:nvPr/>
        </p:nvSpPr>
        <p:spPr>
          <a:xfrm>
            <a:off x="2606040" y="2770632"/>
            <a:ext cx="2834640" cy="38404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697480" y="2834640"/>
            <a:ext cx="2724912" cy="292608"/>
          </a:xfrm>
          <a:prstGeom prst="rect">
            <a:avLst/>
          </a:prstGeom>
          <a:noFill/>
        </p:spPr>
        <p:txBody>
          <a:bodyPr wrap="square"/>
          <a:lstStyle/>
          <a:p>
            <a:pPr algn="l"/>
            <a:r>
              <a:rPr sz="1000" b="0" i="0">
                <a:solidFill>
                  <a:srgbClr val="111827"/>
                </a:solidFill>
                <a:latin typeface="Calibri"/>
              </a:rPr>
              <a:t>Modern booking infrastructure</a:t>
            </a:r>
          </a:p>
        </p:txBody>
      </p:sp>
      <p:sp>
        <p:nvSpPr>
          <p:cNvPr id="39" name="Rectangle 38"/>
          <p:cNvSpPr/>
          <p:nvPr/>
        </p:nvSpPr>
        <p:spPr>
          <a:xfrm>
            <a:off x="5440680" y="2770632"/>
            <a:ext cx="6035040" cy="38404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532120" y="2834640"/>
            <a:ext cx="5925312" cy="292608"/>
          </a:xfrm>
          <a:prstGeom prst="rect">
            <a:avLst/>
          </a:prstGeom>
          <a:noFill/>
        </p:spPr>
        <p:txBody>
          <a:bodyPr wrap="square"/>
          <a:lstStyle/>
          <a:p>
            <a:pPr algn="l"/>
            <a:r>
              <a:rPr sz="1000" b="0" i="0">
                <a:solidFill>
                  <a:srgbClr val="111827"/>
                </a:solidFill>
                <a:latin typeface="Calibri"/>
              </a:rPr>
              <a:t>Platform layer. Intelligence is a third-party integration problem, not a core product capability.</a:t>
            </a:r>
          </a:p>
        </p:txBody>
      </p:sp>
      <p:sp>
        <p:nvSpPr>
          <p:cNvPr id="41" name="Rectangle 40"/>
          <p:cNvSpPr/>
          <p:nvPr/>
        </p:nvSpPr>
        <p:spPr>
          <a:xfrm>
            <a:off x="685800" y="3319272"/>
            <a:ext cx="10820095" cy="566928"/>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 y="3401568"/>
            <a:ext cx="10490911" cy="438912"/>
          </a:xfrm>
          <a:prstGeom prst="rect">
            <a:avLst/>
          </a:prstGeom>
          <a:noFill/>
        </p:spPr>
        <p:txBody>
          <a:bodyPr wrap="square"/>
          <a:lstStyle/>
          <a:p>
            <a:pPr algn="l"/>
            <a:r>
              <a:rPr sz="1050" b="0" i="0">
                <a:solidFill>
                  <a:srgbClr val="FFFFFF"/>
                </a:solidFill>
                <a:latin typeface="Calibri"/>
              </a:rPr>
              <a:t>DIS Travel is an intelligence platform that integrates with booking systems — not a booking platform with intelligence added. The architectural starting point determines what CSRD-compliant methodology is achievable.</a:t>
            </a:r>
          </a:p>
        </p:txBody>
      </p:sp>
      <p:sp>
        <p:nvSpPr>
          <p:cNvPr id="43" name="TextBox 42"/>
          <p:cNvSpPr txBox="1"/>
          <p:nvPr/>
        </p:nvSpPr>
        <p:spPr>
          <a:xfrm>
            <a:off x="685800" y="3977640"/>
            <a:ext cx="10820095" cy="256032"/>
          </a:xfrm>
          <a:prstGeom prst="rect">
            <a:avLst/>
          </a:prstGeom>
          <a:noFill/>
        </p:spPr>
        <p:txBody>
          <a:bodyPr wrap="square"/>
          <a:lstStyle/>
          <a:p>
            <a:pPr algn="l"/>
            <a:r>
              <a:rPr sz="950" b="0" i="1">
                <a:solidFill>
                  <a:srgbClr val="6B7280"/>
                </a:solidFill>
                <a:latin typeface="Calibri"/>
              </a:rPr>
              <a:t>This architectural distinction is why the Skyscanner data partnership is structurally necessary, not interchangeable with other data sources.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05</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Introducing DIS Travel</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5 / 12</a:t>
            </a:r>
          </a:p>
        </p:txBody>
      </p:sp>
      <p:sp>
        <p:nvSpPr>
          <p:cNvPr id="10" name="TextBox 9"/>
          <p:cNvSpPr txBox="1"/>
          <p:nvPr/>
        </p:nvSpPr>
        <p:spPr>
          <a:xfrm>
            <a:off x="685800" y="822960"/>
            <a:ext cx="10820095" cy="292608"/>
          </a:xfrm>
          <a:prstGeom prst="rect">
            <a:avLst/>
          </a:prstGeom>
          <a:noFill/>
        </p:spPr>
        <p:txBody>
          <a:bodyPr wrap="square"/>
          <a:lstStyle/>
          <a:p>
            <a:pPr algn="l"/>
            <a:r>
              <a:rPr sz="1100" b="0" i="1">
                <a:solidFill>
                  <a:srgbClr val="6B7280"/>
                </a:solidFill>
                <a:latin typeface="Calibri"/>
              </a:rPr>
              <a:t>An AI-Powered Travel Intelligence Platform for corporate buyers and travel-intensive organisations.</a:t>
            </a:r>
          </a:p>
        </p:txBody>
      </p:sp>
      <p:sp>
        <p:nvSpPr>
          <p:cNvPr id="11" name="Rectangle 10"/>
          <p:cNvSpPr/>
          <p:nvPr/>
        </p:nvSpPr>
        <p:spPr>
          <a:xfrm>
            <a:off x="685800" y="1207008"/>
            <a:ext cx="10820095" cy="45720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298448"/>
            <a:ext cx="10454335" cy="320040"/>
          </a:xfrm>
          <a:prstGeom prst="rect">
            <a:avLst/>
          </a:prstGeom>
          <a:noFill/>
        </p:spPr>
        <p:txBody>
          <a:bodyPr wrap="square"/>
          <a:lstStyle/>
          <a:p>
            <a:pPr algn="ctr"/>
            <a:r>
              <a:rPr sz="1300" b="1" i="0">
                <a:solidFill>
                  <a:srgbClr val="FFFFFF"/>
                </a:solidFill>
                <a:latin typeface="Calibri"/>
              </a:rPr>
              <a:t>DIS TRAVEL  —  Travel Intelligence Platform</a:t>
            </a:r>
          </a:p>
        </p:txBody>
      </p:sp>
      <p:sp>
        <p:nvSpPr>
          <p:cNvPr id="13" name="Rectangle 12"/>
          <p:cNvSpPr/>
          <p:nvPr/>
        </p:nvSpPr>
        <p:spPr>
          <a:xfrm>
            <a:off x="685800" y="1664208"/>
            <a:ext cx="2679192" cy="1389888"/>
          </a:xfrm>
          <a:prstGeom prst="rect">
            <a:avLst/>
          </a:prstGeom>
          <a:solidFill>
            <a:srgbClr val="F7F8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1755648"/>
            <a:ext cx="2459736" cy="548640"/>
          </a:xfrm>
          <a:prstGeom prst="rect">
            <a:avLst/>
          </a:prstGeom>
          <a:noFill/>
        </p:spPr>
        <p:txBody>
          <a:bodyPr wrap="square"/>
          <a:lstStyle/>
          <a:p>
            <a:pPr algn="ctr"/>
            <a:r>
              <a:rPr sz="950" b="1" i="0">
                <a:solidFill>
                  <a:srgbClr val="0E2C54"/>
                </a:solidFill>
                <a:latin typeface="Calibri"/>
              </a:rPr>
              <a:t>POLICY</a:t>
            </a:r>
          </a:p>
          <a:p>
            <a:pPr algn="ctr"/>
            <a:r>
              <a:rPr sz="950" b="1" i="0">
                <a:solidFill>
                  <a:srgbClr val="0E2C54"/>
                </a:solidFill>
                <a:latin typeface="Calibri"/>
              </a:rPr>
              <a:t>INTELLIGENCE</a:t>
            </a:r>
          </a:p>
        </p:txBody>
      </p:sp>
      <p:sp>
        <p:nvSpPr>
          <p:cNvPr id="15" name="TextBox 14"/>
          <p:cNvSpPr txBox="1"/>
          <p:nvPr/>
        </p:nvSpPr>
        <p:spPr>
          <a:xfrm>
            <a:off x="795528" y="2304288"/>
            <a:ext cx="2459736" cy="658368"/>
          </a:xfrm>
          <a:prstGeom prst="rect">
            <a:avLst/>
          </a:prstGeom>
          <a:noFill/>
        </p:spPr>
        <p:txBody>
          <a:bodyPr wrap="square"/>
          <a:lstStyle/>
          <a:p>
            <a:pPr algn="ctr"/>
            <a:r>
              <a:rPr sz="900" b="0" i="0">
                <a:solidFill>
                  <a:srgbClr val="111827"/>
                </a:solidFill>
                <a:latin typeface="Calibri"/>
              </a:rPr>
              <a:t>Compliance monitoring at booking time — not reconciled after</a:t>
            </a:r>
          </a:p>
        </p:txBody>
      </p:sp>
      <p:sp>
        <p:nvSpPr>
          <p:cNvPr id="16" name="Rectangle 15"/>
          <p:cNvSpPr/>
          <p:nvPr/>
        </p:nvSpPr>
        <p:spPr>
          <a:xfrm>
            <a:off x="3456432" y="1664208"/>
            <a:ext cx="2679192" cy="1389888"/>
          </a:xfrm>
          <a:prstGeom prst="rect">
            <a:avLst/>
          </a:prstGeom>
          <a:solidFill>
            <a:srgbClr val="F7F8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1755648"/>
            <a:ext cx="2459736" cy="548640"/>
          </a:xfrm>
          <a:prstGeom prst="rect">
            <a:avLst/>
          </a:prstGeom>
          <a:noFill/>
        </p:spPr>
        <p:txBody>
          <a:bodyPr wrap="square"/>
          <a:lstStyle/>
          <a:p>
            <a:pPr algn="ctr"/>
            <a:r>
              <a:rPr sz="950" b="1" i="0">
                <a:solidFill>
                  <a:srgbClr val="0E2C54"/>
                </a:solidFill>
                <a:latin typeface="Calibri"/>
              </a:rPr>
              <a:t>DESTINATION</a:t>
            </a:r>
          </a:p>
          <a:p>
            <a:pPr algn="ctr"/>
            <a:r>
              <a:rPr sz="950" b="1" i="0">
                <a:solidFill>
                  <a:srgbClr val="0E2C54"/>
                </a:solidFill>
                <a:latin typeface="Calibri"/>
              </a:rPr>
              <a:t>INTELLIGENCE</a:t>
            </a:r>
          </a:p>
        </p:txBody>
      </p:sp>
      <p:sp>
        <p:nvSpPr>
          <p:cNvPr id="18" name="TextBox 17"/>
          <p:cNvSpPr txBox="1"/>
          <p:nvPr/>
        </p:nvSpPr>
        <p:spPr>
          <a:xfrm>
            <a:off x="3566160" y="2304288"/>
            <a:ext cx="2459736" cy="658368"/>
          </a:xfrm>
          <a:prstGeom prst="rect">
            <a:avLst/>
          </a:prstGeom>
          <a:noFill/>
        </p:spPr>
        <p:txBody>
          <a:bodyPr wrap="square"/>
          <a:lstStyle/>
          <a:p>
            <a:pPr algn="ctr"/>
            <a:r>
              <a:rPr sz="900" b="0" i="0">
                <a:solidFill>
                  <a:srgbClr val="111827"/>
                </a:solidFill>
                <a:latin typeface="Calibri"/>
              </a:rPr>
              <a:t>Risk, visa, health advisories — synthesised by AI at decision time</a:t>
            </a:r>
          </a:p>
        </p:txBody>
      </p:sp>
      <p:sp>
        <p:nvSpPr>
          <p:cNvPr id="19" name="Rectangle 18"/>
          <p:cNvSpPr/>
          <p:nvPr/>
        </p:nvSpPr>
        <p:spPr>
          <a:xfrm>
            <a:off x="6227064" y="1664208"/>
            <a:ext cx="2679192" cy="1389888"/>
          </a:xfrm>
          <a:prstGeom prst="rect">
            <a:avLst/>
          </a:prstGeom>
          <a:solidFill>
            <a:srgbClr val="F7F8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6792" y="1755648"/>
            <a:ext cx="2459736" cy="548640"/>
          </a:xfrm>
          <a:prstGeom prst="rect">
            <a:avLst/>
          </a:prstGeom>
          <a:noFill/>
        </p:spPr>
        <p:txBody>
          <a:bodyPr wrap="square"/>
          <a:lstStyle/>
          <a:p>
            <a:pPr algn="ctr"/>
            <a:r>
              <a:rPr sz="950" b="1" i="0">
                <a:solidFill>
                  <a:srgbClr val="0E2C54"/>
                </a:solidFill>
                <a:latin typeface="Calibri"/>
              </a:rPr>
              <a:t>CARBON</a:t>
            </a:r>
          </a:p>
          <a:p>
            <a:pPr algn="ctr"/>
            <a:r>
              <a:rPr sz="950" b="1" i="0">
                <a:solidFill>
                  <a:srgbClr val="0E2C54"/>
                </a:solidFill>
                <a:latin typeface="Calibri"/>
              </a:rPr>
              <a:t>&amp; ESG</a:t>
            </a:r>
          </a:p>
        </p:txBody>
      </p:sp>
      <p:sp>
        <p:nvSpPr>
          <p:cNvPr id="21" name="TextBox 20"/>
          <p:cNvSpPr txBox="1"/>
          <p:nvPr/>
        </p:nvSpPr>
        <p:spPr>
          <a:xfrm>
            <a:off x="6336792" y="2304288"/>
            <a:ext cx="2459736" cy="658368"/>
          </a:xfrm>
          <a:prstGeom prst="rect">
            <a:avLst/>
          </a:prstGeom>
          <a:noFill/>
        </p:spPr>
        <p:txBody>
          <a:bodyPr wrap="square"/>
          <a:lstStyle/>
          <a:p>
            <a:pPr algn="ctr"/>
            <a:r>
              <a:rPr sz="900" b="0" i="0">
                <a:solidFill>
                  <a:srgbClr val="111827"/>
                </a:solidFill>
                <a:latin typeface="Calibri"/>
              </a:rPr>
              <a:t>Scope 3 per-trip attribution using ICAO / GHG Protocol methodology</a:t>
            </a:r>
          </a:p>
        </p:txBody>
      </p:sp>
      <p:sp>
        <p:nvSpPr>
          <p:cNvPr id="22" name="Rectangle 21"/>
          <p:cNvSpPr/>
          <p:nvPr/>
        </p:nvSpPr>
        <p:spPr>
          <a:xfrm>
            <a:off x="8997696" y="1664208"/>
            <a:ext cx="2679192" cy="1389888"/>
          </a:xfrm>
          <a:prstGeom prst="rect">
            <a:avLst/>
          </a:prstGeom>
          <a:solidFill>
            <a:srgbClr val="F7F8FA"/>
          </a:solidFill>
          <a:ln w="9525">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07424" y="1755648"/>
            <a:ext cx="2459736" cy="548640"/>
          </a:xfrm>
          <a:prstGeom prst="rect">
            <a:avLst/>
          </a:prstGeom>
          <a:noFill/>
        </p:spPr>
        <p:txBody>
          <a:bodyPr wrap="square"/>
          <a:lstStyle/>
          <a:p>
            <a:pPr algn="ctr"/>
            <a:r>
              <a:rPr sz="950" b="1" i="0">
                <a:solidFill>
                  <a:srgbClr val="0E2C54"/>
                </a:solidFill>
                <a:latin typeface="Calibri"/>
              </a:rPr>
              <a:t>MARKET</a:t>
            </a:r>
          </a:p>
          <a:p>
            <a:pPr algn="ctr"/>
            <a:r>
              <a:rPr sz="950" b="1" i="0">
                <a:solidFill>
                  <a:srgbClr val="0E2C54"/>
                </a:solidFill>
                <a:latin typeface="Calibri"/>
              </a:rPr>
              <a:t>INTELLIGENCE</a:t>
            </a:r>
          </a:p>
        </p:txBody>
      </p:sp>
      <p:sp>
        <p:nvSpPr>
          <p:cNvPr id="24" name="TextBox 23"/>
          <p:cNvSpPr txBox="1"/>
          <p:nvPr/>
        </p:nvSpPr>
        <p:spPr>
          <a:xfrm>
            <a:off x="9107424" y="2304288"/>
            <a:ext cx="2459736" cy="658368"/>
          </a:xfrm>
          <a:prstGeom prst="rect">
            <a:avLst/>
          </a:prstGeom>
          <a:noFill/>
        </p:spPr>
        <p:txBody>
          <a:bodyPr wrap="square"/>
          <a:lstStyle/>
          <a:p>
            <a:pPr algn="ctr"/>
            <a:r>
              <a:rPr sz="900" b="0" i="0">
                <a:solidFill>
                  <a:srgbClr val="111827"/>
                </a:solidFill>
                <a:latin typeface="Calibri"/>
              </a:rPr>
              <a:t>Pricing trends and optimal booking window identification</a:t>
            </a:r>
          </a:p>
        </p:txBody>
      </p:sp>
      <p:sp>
        <p:nvSpPr>
          <p:cNvPr id="25" name="Rectangle 24"/>
          <p:cNvSpPr/>
          <p:nvPr/>
        </p:nvSpPr>
        <p:spPr>
          <a:xfrm>
            <a:off x="685800" y="3127248"/>
            <a:ext cx="10820095" cy="384048"/>
          </a:xfrm>
          <a:prstGeom prst="rect">
            <a:avLst/>
          </a:prstGeom>
          <a:solidFill>
            <a:srgbClr val="EBF2FF"/>
          </a:solidFill>
          <a:ln w="9525">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200400"/>
            <a:ext cx="10545775" cy="274320"/>
          </a:xfrm>
          <a:prstGeom prst="rect">
            <a:avLst/>
          </a:prstGeom>
          <a:noFill/>
        </p:spPr>
        <p:txBody>
          <a:bodyPr wrap="square"/>
          <a:lstStyle/>
          <a:p>
            <a:pPr algn="ctr"/>
            <a:r>
              <a:rPr sz="1100" b="1" i="0">
                <a:solidFill>
                  <a:srgbClr val="2563EB"/>
                </a:solidFill>
                <a:latin typeface="Calibri"/>
              </a:rPr>
              <a:t>AI Intelligence &amp; Analysis Layer</a:t>
            </a:r>
          </a:p>
        </p:txBody>
      </p:sp>
      <p:sp>
        <p:nvSpPr>
          <p:cNvPr id="27" name="Rectangle 26"/>
          <p:cNvSpPr/>
          <p:nvPr/>
        </p:nvSpPr>
        <p:spPr>
          <a:xfrm>
            <a:off x="685800" y="3566160"/>
            <a:ext cx="10820095" cy="384048"/>
          </a:xfrm>
          <a:prstGeom prst="rect">
            <a:avLst/>
          </a:prstGeom>
          <a:solidFill>
            <a:srgbClr val="F0F9FF"/>
          </a:solidFill>
          <a:ln w="9525">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39312"/>
            <a:ext cx="10545775" cy="274320"/>
          </a:xfrm>
          <a:prstGeom prst="rect">
            <a:avLst/>
          </a:prstGeom>
          <a:noFill/>
        </p:spPr>
        <p:txBody>
          <a:bodyPr wrap="square"/>
          <a:lstStyle/>
          <a:p>
            <a:pPr algn="ctr"/>
            <a:r>
              <a:rPr sz="1000" b="0" i="0">
                <a:solidFill>
                  <a:srgbClr val="0E2C54"/>
                </a:solidFill>
                <a:latin typeface="Calibri"/>
              </a:rPr>
              <a:t>Travel Content Data Foundation  ·  Skyscanner Partner Data  ·  ESG Data  ·  Other Sources</a:t>
            </a:r>
          </a:p>
        </p:txBody>
      </p:sp>
      <p:sp>
        <p:nvSpPr>
          <p:cNvPr id="29" name="TextBox 28"/>
          <p:cNvSpPr txBox="1"/>
          <p:nvPr/>
        </p:nvSpPr>
        <p:spPr>
          <a:xfrm>
            <a:off x="685800" y="4041648"/>
            <a:ext cx="10820095" cy="256032"/>
          </a:xfrm>
          <a:prstGeom prst="rect">
            <a:avLst/>
          </a:prstGeom>
          <a:noFill/>
        </p:spPr>
        <p:txBody>
          <a:bodyPr wrap="square"/>
          <a:lstStyle/>
          <a:p>
            <a:pPr algn="l"/>
            <a:r>
              <a:rPr sz="850" b="1" i="0">
                <a:solidFill>
                  <a:srgbClr val="2563EB"/>
                </a:solidFill>
                <a:latin typeface="Calibri"/>
              </a:rPr>
              <a:t>WHAT DIS TRAVEL IS NOT</a:t>
            </a:r>
          </a:p>
        </p:txBody>
      </p:sp>
      <p:sp>
        <p:nvSpPr>
          <p:cNvPr id="30" name="TextBox 29"/>
          <p:cNvSpPr txBox="1"/>
          <p:nvPr/>
        </p:nvSpPr>
        <p:spPr>
          <a:xfrm>
            <a:off x="685800" y="4334256"/>
            <a:ext cx="5349240" cy="310896"/>
          </a:xfrm>
          <a:prstGeom prst="rect">
            <a:avLst/>
          </a:prstGeom>
          <a:noFill/>
        </p:spPr>
        <p:txBody>
          <a:bodyPr wrap="square"/>
          <a:lstStyle/>
          <a:p>
            <a:pPr algn="l"/>
            <a:r>
              <a:rPr sz="1000" b="0" i="0">
                <a:solidFill>
                  <a:srgbClr val="6B7280"/>
                </a:solidFill>
                <a:latin typeface="Calibri"/>
              </a:rPr>
              <a:t>  ✗  Not a booking platform — does not compete with GDSs or OBTs</a:t>
            </a:r>
          </a:p>
        </p:txBody>
      </p:sp>
      <p:sp>
        <p:nvSpPr>
          <p:cNvPr id="31" name="TextBox 30"/>
          <p:cNvSpPr txBox="1"/>
          <p:nvPr/>
        </p:nvSpPr>
        <p:spPr>
          <a:xfrm>
            <a:off x="6419088" y="4334256"/>
            <a:ext cx="5349240" cy="310896"/>
          </a:xfrm>
          <a:prstGeom prst="rect">
            <a:avLst/>
          </a:prstGeom>
          <a:noFill/>
        </p:spPr>
        <p:txBody>
          <a:bodyPr wrap="square"/>
          <a:lstStyle/>
          <a:p>
            <a:pPr algn="l"/>
            <a:r>
              <a:rPr sz="1000" b="0" i="0">
                <a:solidFill>
                  <a:srgbClr val="6B7280"/>
                </a:solidFill>
                <a:latin typeface="Calibri"/>
              </a:rPr>
              <a:t>  ✗  Not a consumer product — built exclusively for enterprise buyers</a:t>
            </a:r>
          </a:p>
        </p:txBody>
      </p:sp>
      <p:sp>
        <p:nvSpPr>
          <p:cNvPr id="32" name="TextBox 31"/>
          <p:cNvSpPr txBox="1"/>
          <p:nvPr/>
        </p:nvSpPr>
        <p:spPr>
          <a:xfrm>
            <a:off x="685800" y="4681728"/>
            <a:ext cx="5349240" cy="310896"/>
          </a:xfrm>
          <a:prstGeom prst="rect">
            <a:avLst/>
          </a:prstGeom>
          <a:noFill/>
        </p:spPr>
        <p:txBody>
          <a:bodyPr wrap="square"/>
          <a:lstStyle/>
          <a:p>
            <a:pPr algn="l"/>
            <a:r>
              <a:rPr sz="1000" b="0" i="0">
                <a:solidFill>
                  <a:srgbClr val="6B7280"/>
                </a:solidFill>
                <a:latin typeface="Calibri"/>
              </a:rPr>
              <a:t>  ✗  Not a TMC — does not replace the TMC relationship</a:t>
            </a:r>
          </a:p>
        </p:txBody>
      </p:sp>
      <p:sp>
        <p:nvSpPr>
          <p:cNvPr id="33" name="TextBox 32"/>
          <p:cNvSpPr txBox="1"/>
          <p:nvPr/>
        </p:nvSpPr>
        <p:spPr>
          <a:xfrm>
            <a:off x="6419088" y="4681728"/>
            <a:ext cx="5349240" cy="310896"/>
          </a:xfrm>
          <a:prstGeom prst="rect">
            <a:avLst/>
          </a:prstGeom>
          <a:noFill/>
        </p:spPr>
        <p:txBody>
          <a:bodyPr wrap="square"/>
          <a:lstStyle/>
          <a:p>
            <a:pPr algn="l"/>
            <a:r>
              <a:rPr sz="1000" b="0" i="0">
                <a:solidFill>
                  <a:srgbClr val="6B7280"/>
                </a:solidFill>
                <a:latin typeface="Calibri"/>
              </a:rPr>
              <a:t>  ✗  Not an expense tool — designed to integrate with Concur, SAP, etc.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06</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Four Design Decisions That Define DIS Travel</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6 / 12</a:t>
            </a:r>
          </a:p>
        </p:txBody>
      </p:sp>
      <p:sp>
        <p:nvSpPr>
          <p:cNvPr id="10" name="TextBox 9"/>
          <p:cNvSpPr txBox="1"/>
          <p:nvPr/>
        </p:nvSpPr>
        <p:spPr>
          <a:xfrm>
            <a:off x="685800" y="822960"/>
            <a:ext cx="10820095" cy="292608"/>
          </a:xfrm>
          <a:prstGeom prst="rect">
            <a:avLst/>
          </a:prstGeom>
          <a:noFill/>
        </p:spPr>
        <p:txBody>
          <a:bodyPr wrap="square"/>
          <a:lstStyle/>
          <a:p>
            <a:pPr algn="l"/>
            <a:r>
              <a:rPr sz="1100" b="0" i="1">
                <a:solidFill>
                  <a:srgbClr val="6B7280"/>
                </a:solidFill>
                <a:latin typeface="Calibri"/>
              </a:rPr>
              <a:t>These are architectural choices with specific commercial consequences — not positioning claims.</a:t>
            </a:r>
          </a:p>
        </p:txBody>
      </p:sp>
      <p:sp>
        <p:nvSpPr>
          <p:cNvPr id="11" name="Rectangle 10"/>
          <p:cNvSpPr/>
          <p:nvPr/>
        </p:nvSpPr>
        <p:spPr>
          <a:xfrm>
            <a:off x="685800" y="1207008"/>
            <a:ext cx="10820095" cy="1188720"/>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1207008"/>
            <a:ext cx="54864" cy="118872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3816" y="1371600"/>
            <a:ext cx="438912" cy="384048"/>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 y="1371600"/>
            <a:ext cx="438912" cy="402336"/>
          </a:xfrm>
          <a:prstGeom prst="rect">
            <a:avLst/>
          </a:prstGeom>
          <a:noFill/>
        </p:spPr>
        <p:txBody>
          <a:bodyPr wrap="square"/>
          <a:lstStyle/>
          <a:p>
            <a:pPr algn="ctr"/>
            <a:r>
              <a:rPr sz="1200" b="1" i="0">
                <a:solidFill>
                  <a:srgbClr val="FFFFFF"/>
                </a:solidFill>
                <a:latin typeface="Calibri"/>
              </a:rPr>
              <a:t>01</a:t>
            </a:r>
          </a:p>
        </p:txBody>
      </p:sp>
      <p:sp>
        <p:nvSpPr>
          <p:cNvPr id="15" name="TextBox 14"/>
          <p:cNvSpPr txBox="1"/>
          <p:nvPr/>
        </p:nvSpPr>
        <p:spPr>
          <a:xfrm>
            <a:off x="1399032" y="1335024"/>
            <a:ext cx="10015423" cy="347472"/>
          </a:xfrm>
          <a:prstGeom prst="rect">
            <a:avLst/>
          </a:prstGeom>
          <a:noFill/>
        </p:spPr>
        <p:txBody>
          <a:bodyPr wrap="square"/>
          <a:lstStyle/>
          <a:p>
            <a:pPr algn="l"/>
            <a:r>
              <a:rPr sz="1200" b="1" i="0">
                <a:solidFill>
                  <a:srgbClr val="0E2C54"/>
                </a:solidFill>
                <a:latin typeface="Calibri"/>
              </a:rPr>
              <a:t>Intelligence Separable from Booking</a:t>
            </a:r>
          </a:p>
        </p:txBody>
      </p:sp>
      <p:sp>
        <p:nvSpPr>
          <p:cNvPr id="16" name="TextBox 15"/>
          <p:cNvSpPr txBox="1"/>
          <p:nvPr/>
        </p:nvSpPr>
        <p:spPr>
          <a:xfrm>
            <a:off x="1399032" y="1682496"/>
            <a:ext cx="10015423" cy="621792"/>
          </a:xfrm>
          <a:prstGeom prst="rect">
            <a:avLst/>
          </a:prstGeom>
          <a:noFill/>
        </p:spPr>
        <p:txBody>
          <a:bodyPr wrap="square"/>
          <a:lstStyle/>
          <a:p>
            <a:pPr algn="l"/>
            <a:r>
              <a:rPr sz="1000" b="0" i="0">
                <a:solidFill>
                  <a:srgbClr val="111827"/>
                </a:solidFill>
                <a:latin typeface="Calibri"/>
              </a:rPr>
              <a:t>The intelligence layer operates independently of any specific booking system. DIS Travel integrates with an organisation's existing booking tool — it does not require replacing it. This removes the booking displacement objection from enterprise procurement entirely.</a:t>
            </a:r>
          </a:p>
        </p:txBody>
      </p:sp>
      <p:sp>
        <p:nvSpPr>
          <p:cNvPr id="17" name="Rectangle 16"/>
          <p:cNvSpPr/>
          <p:nvPr/>
        </p:nvSpPr>
        <p:spPr>
          <a:xfrm>
            <a:off x="685800" y="2468880"/>
            <a:ext cx="10820095" cy="1188720"/>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2468880"/>
            <a:ext cx="54864" cy="118872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3816" y="2633472"/>
            <a:ext cx="438912" cy="384048"/>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 y="2633472"/>
            <a:ext cx="438912" cy="402336"/>
          </a:xfrm>
          <a:prstGeom prst="rect">
            <a:avLst/>
          </a:prstGeom>
          <a:noFill/>
        </p:spPr>
        <p:txBody>
          <a:bodyPr wrap="square"/>
          <a:lstStyle/>
          <a:p>
            <a:pPr algn="ctr"/>
            <a:r>
              <a:rPr sz="1200" b="1" i="0">
                <a:solidFill>
                  <a:srgbClr val="FFFFFF"/>
                </a:solidFill>
                <a:latin typeface="Calibri"/>
              </a:rPr>
              <a:t>02</a:t>
            </a:r>
          </a:p>
        </p:txBody>
      </p:sp>
      <p:sp>
        <p:nvSpPr>
          <p:cNvPr id="21" name="TextBox 20"/>
          <p:cNvSpPr txBox="1"/>
          <p:nvPr/>
        </p:nvSpPr>
        <p:spPr>
          <a:xfrm>
            <a:off x="1399032" y="2596896"/>
            <a:ext cx="10015423" cy="347472"/>
          </a:xfrm>
          <a:prstGeom prst="rect">
            <a:avLst/>
          </a:prstGeom>
          <a:noFill/>
        </p:spPr>
        <p:txBody>
          <a:bodyPr wrap="square"/>
          <a:lstStyle/>
          <a:p>
            <a:pPr algn="l"/>
            <a:r>
              <a:rPr sz="1200" b="1" i="0">
                <a:solidFill>
                  <a:srgbClr val="0E2C54"/>
                </a:solidFill>
                <a:latin typeface="Calibri"/>
              </a:rPr>
              <a:t>Carbon as a First-Class Data Type</a:t>
            </a:r>
          </a:p>
        </p:txBody>
      </p:sp>
      <p:sp>
        <p:nvSpPr>
          <p:cNvPr id="22" name="TextBox 21"/>
          <p:cNvSpPr txBox="1"/>
          <p:nvPr/>
        </p:nvSpPr>
        <p:spPr>
          <a:xfrm>
            <a:off x="1399032" y="2944368"/>
            <a:ext cx="10015423" cy="621792"/>
          </a:xfrm>
          <a:prstGeom prst="rect">
            <a:avLst/>
          </a:prstGeom>
          <a:noFill/>
        </p:spPr>
        <p:txBody>
          <a:bodyPr wrap="square"/>
          <a:lstStyle/>
          <a:p>
            <a:pPr algn="l"/>
            <a:r>
              <a:rPr sz="1000" b="0" i="0">
                <a:solidFill>
                  <a:srgbClr val="111827"/>
                </a:solidFill>
                <a:latin typeface="Calibri"/>
              </a:rPr>
              <a:t>Carbon attribution is calculated at trip-creation time, stored with full ICAO methodology provenance (inputs, methodology version, aircraft type, output), and queryable at any aggregation level. It is not a dashboard generated from expense exports — a distinction that CSRD audit readiness requires.</a:t>
            </a:r>
          </a:p>
        </p:txBody>
      </p:sp>
      <p:sp>
        <p:nvSpPr>
          <p:cNvPr id="23" name="Rectangle 22"/>
          <p:cNvSpPr/>
          <p:nvPr/>
        </p:nvSpPr>
        <p:spPr>
          <a:xfrm>
            <a:off x="685800" y="3730752"/>
            <a:ext cx="10820095" cy="1188720"/>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730752"/>
            <a:ext cx="54864" cy="118872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3816" y="3895344"/>
            <a:ext cx="438912" cy="384048"/>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3816" y="3895344"/>
            <a:ext cx="438912" cy="402336"/>
          </a:xfrm>
          <a:prstGeom prst="rect">
            <a:avLst/>
          </a:prstGeom>
          <a:noFill/>
        </p:spPr>
        <p:txBody>
          <a:bodyPr wrap="square"/>
          <a:lstStyle/>
          <a:p>
            <a:pPr algn="ctr"/>
            <a:r>
              <a:rPr sz="1200" b="1" i="0">
                <a:solidFill>
                  <a:srgbClr val="FFFFFF"/>
                </a:solidFill>
                <a:latin typeface="Calibri"/>
              </a:rPr>
              <a:t>03</a:t>
            </a:r>
          </a:p>
        </p:txBody>
      </p:sp>
      <p:sp>
        <p:nvSpPr>
          <p:cNvPr id="27" name="TextBox 26"/>
          <p:cNvSpPr txBox="1"/>
          <p:nvPr/>
        </p:nvSpPr>
        <p:spPr>
          <a:xfrm>
            <a:off x="1399032" y="3858768"/>
            <a:ext cx="10015423" cy="347472"/>
          </a:xfrm>
          <a:prstGeom prst="rect">
            <a:avLst/>
          </a:prstGeom>
          <a:noFill/>
        </p:spPr>
        <p:txBody>
          <a:bodyPr wrap="square"/>
          <a:lstStyle/>
          <a:p>
            <a:pPr algn="l"/>
            <a:r>
              <a:rPr sz="1200" b="1" i="0">
                <a:solidFill>
                  <a:srgbClr val="0E2C54"/>
                </a:solidFill>
                <a:latin typeface="Calibri"/>
              </a:rPr>
              <a:t>GDPR as a Data Model Constraint</a:t>
            </a:r>
          </a:p>
        </p:txBody>
      </p:sp>
      <p:sp>
        <p:nvSpPr>
          <p:cNvPr id="28" name="TextBox 27"/>
          <p:cNvSpPr txBox="1"/>
          <p:nvPr/>
        </p:nvSpPr>
        <p:spPr>
          <a:xfrm>
            <a:off x="1399032" y="4206240"/>
            <a:ext cx="10015423" cy="621792"/>
          </a:xfrm>
          <a:prstGeom prst="rect">
            <a:avLst/>
          </a:prstGeom>
          <a:noFill/>
        </p:spPr>
        <p:txBody>
          <a:bodyPr wrap="square"/>
          <a:lstStyle/>
          <a:p>
            <a:pPr algn="l"/>
            <a:r>
              <a:rPr sz="1000" b="0" i="0">
                <a:solidFill>
                  <a:srgbClr val="111827"/>
                </a:solidFill>
                <a:latin typeface="Calibri"/>
              </a:rPr>
              <a:t>Data minimisation and purpose limitation are enforced at the schema level — traveller PII is absent from the intelligence layer because the data model does not collect it there. This eliminates a class of compliance risk rather than managing it with policy documents.</a:t>
            </a:r>
          </a:p>
        </p:txBody>
      </p:sp>
      <p:sp>
        <p:nvSpPr>
          <p:cNvPr id="29" name="Rectangle 28"/>
          <p:cNvSpPr/>
          <p:nvPr/>
        </p:nvSpPr>
        <p:spPr>
          <a:xfrm>
            <a:off x="685800" y="4992624"/>
            <a:ext cx="10820095" cy="1188720"/>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5800" y="4992624"/>
            <a:ext cx="54864" cy="118872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3816" y="5157216"/>
            <a:ext cx="438912" cy="384048"/>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3816" y="5157216"/>
            <a:ext cx="438912" cy="402336"/>
          </a:xfrm>
          <a:prstGeom prst="rect">
            <a:avLst/>
          </a:prstGeom>
          <a:noFill/>
        </p:spPr>
        <p:txBody>
          <a:bodyPr wrap="square"/>
          <a:lstStyle/>
          <a:p>
            <a:pPr algn="ctr"/>
            <a:r>
              <a:rPr sz="1200" b="1" i="0">
                <a:solidFill>
                  <a:srgbClr val="FFFFFF"/>
                </a:solidFill>
                <a:latin typeface="Calibri"/>
              </a:rPr>
              <a:t>04</a:t>
            </a:r>
          </a:p>
        </p:txBody>
      </p:sp>
      <p:sp>
        <p:nvSpPr>
          <p:cNvPr id="33" name="TextBox 32"/>
          <p:cNvSpPr txBox="1"/>
          <p:nvPr/>
        </p:nvSpPr>
        <p:spPr>
          <a:xfrm>
            <a:off x="1399032" y="5120640"/>
            <a:ext cx="10015423" cy="347472"/>
          </a:xfrm>
          <a:prstGeom prst="rect">
            <a:avLst/>
          </a:prstGeom>
          <a:noFill/>
        </p:spPr>
        <p:txBody>
          <a:bodyPr wrap="square"/>
          <a:lstStyle/>
          <a:p>
            <a:pPr algn="l"/>
            <a:r>
              <a:rPr sz="1200" b="1" i="0">
                <a:solidFill>
                  <a:srgbClr val="0E2C54"/>
                </a:solidFill>
                <a:latin typeface="Calibri"/>
              </a:rPr>
              <a:t>Governance-First AI Deployment</a:t>
            </a:r>
          </a:p>
        </p:txBody>
      </p:sp>
      <p:sp>
        <p:nvSpPr>
          <p:cNvPr id="34" name="TextBox 33"/>
          <p:cNvSpPr txBox="1"/>
          <p:nvPr/>
        </p:nvSpPr>
        <p:spPr>
          <a:xfrm>
            <a:off x="1399032" y="5468112"/>
            <a:ext cx="10015423" cy="621792"/>
          </a:xfrm>
          <a:prstGeom prst="rect">
            <a:avLst/>
          </a:prstGeom>
          <a:noFill/>
        </p:spPr>
        <p:txBody>
          <a:bodyPr wrap="square"/>
          <a:lstStyle/>
          <a:p>
            <a:pPr algn="l"/>
            <a:r>
              <a:rPr sz="1000" b="0" i="0">
                <a:solidFill>
                  <a:srgbClr val="111827"/>
                </a:solidFill>
                <a:latin typeface="Calibri"/>
              </a:rPr>
              <a:t>AI components are not shipped until pre-deployment review is complete, risk class is assigned (Class 1–4 framework), and audit logging is confirmed. This adds deployment time. It is the correct tradeoff for a platform that enterprise procurement teams will scrutinise.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07</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CSRD Is Creating Urgent, Specific Demand</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7 / 12</a:t>
            </a:r>
          </a:p>
        </p:txBody>
      </p:sp>
      <p:sp>
        <p:nvSpPr>
          <p:cNvPr id="10" name="TextBox 9"/>
          <p:cNvSpPr txBox="1"/>
          <p:nvPr/>
        </p:nvSpPr>
        <p:spPr>
          <a:xfrm>
            <a:off x="685800" y="822960"/>
            <a:ext cx="10820095" cy="256032"/>
          </a:xfrm>
          <a:prstGeom prst="rect">
            <a:avLst/>
          </a:prstGeom>
          <a:noFill/>
        </p:spPr>
        <p:txBody>
          <a:bodyPr wrap="square"/>
          <a:lstStyle/>
          <a:p>
            <a:pPr algn="l"/>
            <a:r>
              <a:rPr sz="850" b="1" i="0">
                <a:solidFill>
                  <a:srgbClr val="2563EB"/>
                </a:solidFill>
                <a:latin typeface="Calibri"/>
              </a:rPr>
              <a:t>WHAT CSRD REQUIRES</a:t>
            </a:r>
          </a:p>
        </p:txBody>
      </p:sp>
      <p:sp>
        <p:nvSpPr>
          <p:cNvPr id="11" name="Rectangle 10"/>
          <p:cNvSpPr/>
          <p:nvPr/>
        </p:nvSpPr>
        <p:spPr>
          <a:xfrm>
            <a:off x="685800" y="1243584"/>
            <a:ext cx="6400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216152"/>
            <a:ext cx="4809744" cy="274320"/>
          </a:xfrm>
          <a:prstGeom prst="rect">
            <a:avLst/>
          </a:prstGeom>
          <a:noFill/>
        </p:spPr>
        <p:txBody>
          <a:bodyPr wrap="square"/>
          <a:lstStyle/>
          <a:p>
            <a:pPr algn="l"/>
            <a:r>
              <a:rPr sz="1100" b="1" i="0">
                <a:solidFill>
                  <a:srgbClr val="0E2C54"/>
                </a:solidFill>
                <a:latin typeface="Calibri"/>
              </a:rPr>
              <a:t>In force from 2024</a:t>
            </a:r>
          </a:p>
        </p:txBody>
      </p:sp>
      <p:sp>
        <p:nvSpPr>
          <p:cNvPr id="13" name="TextBox 12"/>
          <p:cNvSpPr txBox="1"/>
          <p:nvPr/>
        </p:nvSpPr>
        <p:spPr>
          <a:xfrm>
            <a:off x="868680" y="1481328"/>
            <a:ext cx="4809744" cy="274320"/>
          </a:xfrm>
          <a:prstGeom prst="rect">
            <a:avLst/>
          </a:prstGeom>
          <a:noFill/>
        </p:spPr>
        <p:txBody>
          <a:bodyPr wrap="square"/>
          <a:lstStyle/>
          <a:p>
            <a:pPr algn="l"/>
            <a:r>
              <a:rPr sz="1000" b="0" i="0">
                <a:solidFill>
                  <a:srgbClr val="111827"/>
                </a:solidFill>
                <a:latin typeface="Calibri"/>
              </a:rPr>
              <a:t>Phased scope expansion through 2026</a:t>
            </a:r>
          </a:p>
        </p:txBody>
      </p:sp>
      <p:sp>
        <p:nvSpPr>
          <p:cNvPr id="14" name="Rectangle 13"/>
          <p:cNvSpPr/>
          <p:nvPr/>
        </p:nvSpPr>
        <p:spPr>
          <a:xfrm>
            <a:off x="685800" y="1920240"/>
            <a:ext cx="6400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892808"/>
            <a:ext cx="4809744" cy="274320"/>
          </a:xfrm>
          <a:prstGeom prst="rect">
            <a:avLst/>
          </a:prstGeom>
          <a:noFill/>
        </p:spPr>
        <p:txBody>
          <a:bodyPr wrap="square"/>
          <a:lstStyle/>
          <a:p>
            <a:pPr algn="l"/>
            <a:r>
              <a:rPr sz="1100" b="1" i="0">
                <a:solidFill>
                  <a:srgbClr val="0E2C54"/>
                </a:solidFill>
                <a:latin typeface="Calibri"/>
              </a:rPr>
              <a:t>Business travel = Scope 3 Category 6</a:t>
            </a:r>
          </a:p>
        </p:txBody>
      </p:sp>
      <p:sp>
        <p:nvSpPr>
          <p:cNvPr id="16" name="TextBox 15"/>
          <p:cNvSpPr txBox="1"/>
          <p:nvPr/>
        </p:nvSpPr>
        <p:spPr>
          <a:xfrm>
            <a:off x="868680" y="2157984"/>
            <a:ext cx="4809744" cy="274320"/>
          </a:xfrm>
          <a:prstGeom prst="rect">
            <a:avLst/>
          </a:prstGeom>
          <a:noFill/>
        </p:spPr>
        <p:txBody>
          <a:bodyPr wrap="square"/>
          <a:lstStyle/>
          <a:p>
            <a:pPr algn="l"/>
            <a:r>
              <a:rPr sz="1000" b="0" i="0">
                <a:solidFill>
                  <a:srgbClr val="111827"/>
                </a:solidFill>
                <a:latin typeface="Calibri"/>
              </a:rPr>
              <a:t>Mandatory measurement — estimation is insufficient</a:t>
            </a:r>
          </a:p>
        </p:txBody>
      </p:sp>
      <p:sp>
        <p:nvSpPr>
          <p:cNvPr id="17" name="Rectangle 16"/>
          <p:cNvSpPr/>
          <p:nvPr/>
        </p:nvSpPr>
        <p:spPr>
          <a:xfrm>
            <a:off x="685800" y="2596896"/>
            <a:ext cx="6400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2569464"/>
            <a:ext cx="4809744" cy="274320"/>
          </a:xfrm>
          <a:prstGeom prst="rect">
            <a:avLst/>
          </a:prstGeom>
          <a:noFill/>
        </p:spPr>
        <p:txBody>
          <a:bodyPr wrap="square"/>
          <a:lstStyle/>
          <a:p>
            <a:pPr algn="l"/>
            <a:r>
              <a:rPr sz="1100" b="1" i="0">
                <a:solidFill>
                  <a:srgbClr val="0E2C54"/>
                </a:solidFill>
                <a:latin typeface="Calibri"/>
              </a:rPr>
              <a:t>Audit-defensible methodology required</a:t>
            </a:r>
          </a:p>
        </p:txBody>
      </p:sp>
      <p:sp>
        <p:nvSpPr>
          <p:cNvPr id="19" name="TextBox 18"/>
          <p:cNvSpPr txBox="1"/>
          <p:nvPr/>
        </p:nvSpPr>
        <p:spPr>
          <a:xfrm>
            <a:off x="868680" y="2834640"/>
            <a:ext cx="4809744" cy="274320"/>
          </a:xfrm>
          <a:prstGeom prst="rect">
            <a:avLst/>
          </a:prstGeom>
          <a:noFill/>
        </p:spPr>
        <p:txBody>
          <a:bodyPr wrap="square"/>
          <a:lstStyle/>
          <a:p>
            <a:pPr algn="l"/>
            <a:r>
              <a:rPr sz="1000" b="0" i="0">
                <a:solidFill>
                  <a:srgbClr val="111827"/>
                </a:solidFill>
                <a:latin typeface="Calibri"/>
              </a:rPr>
              <a:t>ICAO or equivalent standard expected by auditors</a:t>
            </a:r>
          </a:p>
        </p:txBody>
      </p:sp>
      <p:sp>
        <p:nvSpPr>
          <p:cNvPr id="20" name="Rectangle 19"/>
          <p:cNvSpPr/>
          <p:nvPr/>
        </p:nvSpPr>
        <p:spPr>
          <a:xfrm>
            <a:off x="685800" y="3273552"/>
            <a:ext cx="6400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246120"/>
            <a:ext cx="4809744" cy="274320"/>
          </a:xfrm>
          <a:prstGeom prst="rect">
            <a:avLst/>
          </a:prstGeom>
          <a:noFill/>
        </p:spPr>
        <p:txBody>
          <a:bodyPr wrap="square"/>
          <a:lstStyle/>
          <a:p>
            <a:pPr algn="l"/>
            <a:r>
              <a:rPr sz="1100" b="1" i="0">
                <a:solidFill>
                  <a:srgbClr val="0E2C54"/>
                </a:solidFill>
                <a:latin typeface="Calibri"/>
              </a:rPr>
              <a:t>Per-trip reporting capability</a:t>
            </a:r>
          </a:p>
        </p:txBody>
      </p:sp>
      <p:sp>
        <p:nvSpPr>
          <p:cNvPr id="22" name="TextBox 21"/>
          <p:cNvSpPr txBox="1"/>
          <p:nvPr/>
        </p:nvSpPr>
        <p:spPr>
          <a:xfrm>
            <a:off x="868680" y="3511296"/>
            <a:ext cx="4809744" cy="274320"/>
          </a:xfrm>
          <a:prstGeom prst="rect">
            <a:avLst/>
          </a:prstGeom>
          <a:noFill/>
        </p:spPr>
        <p:txBody>
          <a:bodyPr wrap="square"/>
          <a:lstStyle/>
          <a:p>
            <a:pPr algn="l"/>
            <a:r>
              <a:rPr sz="1000" b="0" i="0">
                <a:solidFill>
                  <a:srgbClr val="111827"/>
                </a:solidFill>
                <a:latin typeface="Calibri"/>
              </a:rPr>
              <a:t>Spend-category averages no longer adequate</a:t>
            </a:r>
          </a:p>
        </p:txBody>
      </p:sp>
      <p:sp>
        <p:nvSpPr>
          <p:cNvPr id="23" name="Rectangle 22"/>
          <p:cNvSpPr/>
          <p:nvPr/>
        </p:nvSpPr>
        <p:spPr>
          <a:xfrm>
            <a:off x="685800" y="3950208"/>
            <a:ext cx="64008" cy="2560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922776"/>
            <a:ext cx="4809744" cy="274320"/>
          </a:xfrm>
          <a:prstGeom prst="rect">
            <a:avLst/>
          </a:prstGeom>
          <a:noFill/>
        </p:spPr>
        <p:txBody>
          <a:bodyPr wrap="square"/>
          <a:lstStyle/>
          <a:p>
            <a:pPr algn="l"/>
            <a:r>
              <a:rPr sz="1100" b="1" i="0">
                <a:solidFill>
                  <a:srgbClr val="0E2C54"/>
                </a:solidFill>
                <a:latin typeface="Calibri"/>
              </a:rPr>
              <a:t>Tens of thousands of in-scope organisations</a:t>
            </a:r>
          </a:p>
        </p:txBody>
      </p:sp>
      <p:sp>
        <p:nvSpPr>
          <p:cNvPr id="25" name="TextBox 24"/>
          <p:cNvSpPr txBox="1"/>
          <p:nvPr/>
        </p:nvSpPr>
        <p:spPr>
          <a:xfrm>
            <a:off x="868680" y="4187952"/>
            <a:ext cx="4809744" cy="274320"/>
          </a:xfrm>
          <a:prstGeom prst="rect">
            <a:avLst/>
          </a:prstGeom>
          <a:noFill/>
        </p:spPr>
        <p:txBody>
          <a:bodyPr wrap="square"/>
          <a:lstStyle/>
          <a:p>
            <a:pPr algn="l"/>
            <a:r>
              <a:rPr sz="1000" b="0" i="0">
                <a:solidFill>
                  <a:srgbClr val="111827"/>
                </a:solidFill>
                <a:latin typeface="Calibri"/>
              </a:rPr>
              <a:t>Across the EU by full rollout</a:t>
            </a:r>
          </a:p>
        </p:txBody>
      </p:sp>
      <p:sp>
        <p:nvSpPr>
          <p:cNvPr id="26" name="Rectangle 25"/>
          <p:cNvSpPr/>
          <p:nvPr/>
        </p:nvSpPr>
        <p:spPr>
          <a:xfrm>
            <a:off x="5715000" y="822960"/>
            <a:ext cx="22860" cy="555955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822960"/>
            <a:ext cx="10820095" cy="256032"/>
          </a:xfrm>
          <a:prstGeom prst="rect">
            <a:avLst/>
          </a:prstGeom>
          <a:noFill/>
        </p:spPr>
        <p:txBody>
          <a:bodyPr wrap="square"/>
          <a:lstStyle/>
          <a:p>
            <a:pPr algn="l"/>
            <a:r>
              <a:rPr sz="850" b="1" i="0">
                <a:solidFill>
                  <a:srgbClr val="2563EB"/>
                </a:solidFill>
                <a:latin typeface="Calibri"/>
              </a:rPr>
              <a:t>CURRENT STATE vs. DIS TRAVEL</a:t>
            </a:r>
          </a:p>
        </p:txBody>
      </p:sp>
      <p:sp>
        <p:nvSpPr>
          <p:cNvPr id="28" name="Rectangle 27"/>
          <p:cNvSpPr/>
          <p:nvPr/>
        </p:nvSpPr>
        <p:spPr>
          <a:xfrm>
            <a:off x="5916168" y="1133856"/>
            <a:ext cx="150876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1197864"/>
            <a:ext cx="1417320" cy="310896"/>
          </a:xfrm>
          <a:prstGeom prst="rect">
            <a:avLst/>
          </a:prstGeom>
          <a:noFill/>
        </p:spPr>
        <p:txBody>
          <a:bodyPr wrap="square"/>
          <a:lstStyle/>
          <a:p>
            <a:pPr algn="l"/>
            <a:r>
              <a:rPr sz="950" b="1" i="0">
                <a:solidFill>
                  <a:srgbClr val="FFFFFF"/>
                </a:solidFill>
                <a:latin typeface="Calibri"/>
              </a:rPr>
              <a:t>Dimension</a:t>
            </a:r>
          </a:p>
        </p:txBody>
      </p:sp>
      <p:sp>
        <p:nvSpPr>
          <p:cNvPr id="30" name="Rectangle 29"/>
          <p:cNvSpPr/>
          <p:nvPr/>
        </p:nvSpPr>
        <p:spPr>
          <a:xfrm>
            <a:off x="7424928" y="1133856"/>
            <a:ext cx="182880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0" y="1197864"/>
            <a:ext cx="1737360" cy="310896"/>
          </a:xfrm>
          <a:prstGeom prst="rect">
            <a:avLst/>
          </a:prstGeom>
          <a:noFill/>
        </p:spPr>
        <p:txBody>
          <a:bodyPr wrap="square"/>
          <a:lstStyle/>
          <a:p>
            <a:pPr algn="l"/>
            <a:r>
              <a:rPr sz="950" b="1" i="0">
                <a:solidFill>
                  <a:srgbClr val="FFFFFF"/>
                </a:solidFill>
                <a:latin typeface="Calibri"/>
              </a:rPr>
              <a:t>Today</a:t>
            </a:r>
          </a:p>
        </p:txBody>
      </p:sp>
      <p:sp>
        <p:nvSpPr>
          <p:cNvPr id="32" name="Rectangle 31"/>
          <p:cNvSpPr/>
          <p:nvPr/>
        </p:nvSpPr>
        <p:spPr>
          <a:xfrm>
            <a:off x="9253728" y="1133856"/>
            <a:ext cx="182880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0" y="1197864"/>
            <a:ext cx="1737360" cy="310896"/>
          </a:xfrm>
          <a:prstGeom prst="rect">
            <a:avLst/>
          </a:prstGeom>
          <a:noFill/>
        </p:spPr>
        <p:txBody>
          <a:bodyPr wrap="square"/>
          <a:lstStyle/>
          <a:p>
            <a:pPr algn="l"/>
            <a:r>
              <a:rPr sz="950" b="1" i="0">
                <a:solidFill>
                  <a:srgbClr val="FFFFFF"/>
                </a:solidFill>
                <a:latin typeface="Calibri"/>
              </a:rPr>
              <a:t>DIS Travel</a:t>
            </a:r>
          </a:p>
        </p:txBody>
      </p:sp>
      <p:sp>
        <p:nvSpPr>
          <p:cNvPr id="34" name="Rectangle 33"/>
          <p:cNvSpPr/>
          <p:nvPr/>
        </p:nvSpPr>
        <p:spPr>
          <a:xfrm>
            <a:off x="5916168" y="1536192"/>
            <a:ext cx="150876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9320" y="1600200"/>
            <a:ext cx="1417320" cy="310896"/>
          </a:xfrm>
          <a:prstGeom prst="rect">
            <a:avLst/>
          </a:prstGeom>
          <a:noFill/>
        </p:spPr>
        <p:txBody>
          <a:bodyPr wrap="square"/>
          <a:lstStyle/>
          <a:p>
            <a:pPr algn="l"/>
            <a:r>
              <a:rPr sz="950" b="1" i="0">
                <a:solidFill>
                  <a:srgbClr val="0E2C54"/>
                </a:solidFill>
                <a:latin typeface="Calibri"/>
              </a:rPr>
              <a:t>Timing</a:t>
            </a:r>
          </a:p>
        </p:txBody>
      </p:sp>
      <p:sp>
        <p:nvSpPr>
          <p:cNvPr id="36" name="Rectangle 35"/>
          <p:cNvSpPr/>
          <p:nvPr/>
        </p:nvSpPr>
        <p:spPr>
          <a:xfrm>
            <a:off x="7424928" y="1536192"/>
            <a:ext cx="182880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0" y="1600200"/>
            <a:ext cx="1737360" cy="310896"/>
          </a:xfrm>
          <a:prstGeom prst="rect">
            <a:avLst/>
          </a:prstGeom>
          <a:noFill/>
        </p:spPr>
        <p:txBody>
          <a:bodyPr wrap="square"/>
          <a:lstStyle/>
          <a:p>
            <a:pPr algn="l"/>
            <a:r>
              <a:rPr sz="950" b="0" i="0">
                <a:solidFill>
                  <a:srgbClr val="111827"/>
                </a:solidFill>
                <a:latin typeface="Calibri"/>
              </a:rPr>
              <a:t>Annual, retrospective</a:t>
            </a:r>
          </a:p>
        </p:txBody>
      </p:sp>
      <p:sp>
        <p:nvSpPr>
          <p:cNvPr id="38" name="Rectangle 37"/>
          <p:cNvSpPr/>
          <p:nvPr/>
        </p:nvSpPr>
        <p:spPr>
          <a:xfrm>
            <a:off x="9253728" y="1536192"/>
            <a:ext cx="182880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1600200"/>
            <a:ext cx="1737360" cy="310896"/>
          </a:xfrm>
          <a:prstGeom prst="rect">
            <a:avLst/>
          </a:prstGeom>
          <a:noFill/>
        </p:spPr>
        <p:txBody>
          <a:bodyPr wrap="square"/>
          <a:lstStyle/>
          <a:p>
            <a:pPr algn="l"/>
            <a:r>
              <a:rPr sz="950" b="0" i="0">
                <a:solidFill>
                  <a:srgbClr val="059669"/>
                </a:solidFill>
                <a:latin typeface="Calibri"/>
              </a:rPr>
              <a:t>Real-time, per booking</a:t>
            </a:r>
          </a:p>
        </p:txBody>
      </p:sp>
      <p:sp>
        <p:nvSpPr>
          <p:cNvPr id="40" name="Rectangle 39"/>
          <p:cNvSpPr/>
          <p:nvPr/>
        </p:nvSpPr>
        <p:spPr>
          <a:xfrm>
            <a:off x="5916168" y="1938528"/>
            <a:ext cx="1508760" cy="402336"/>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9320" y="2002536"/>
            <a:ext cx="1417320" cy="310896"/>
          </a:xfrm>
          <a:prstGeom prst="rect">
            <a:avLst/>
          </a:prstGeom>
          <a:noFill/>
        </p:spPr>
        <p:txBody>
          <a:bodyPr wrap="square"/>
          <a:lstStyle/>
          <a:p>
            <a:pPr algn="l"/>
            <a:r>
              <a:rPr sz="950" b="1" i="0">
                <a:solidFill>
                  <a:srgbClr val="0E2C54"/>
                </a:solidFill>
                <a:latin typeface="Calibri"/>
              </a:rPr>
              <a:t>Methodology</a:t>
            </a:r>
          </a:p>
        </p:txBody>
      </p:sp>
      <p:sp>
        <p:nvSpPr>
          <p:cNvPr id="42" name="Rectangle 41"/>
          <p:cNvSpPr/>
          <p:nvPr/>
        </p:nvSpPr>
        <p:spPr>
          <a:xfrm>
            <a:off x="7424928" y="1938528"/>
            <a:ext cx="1828800" cy="402336"/>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0" y="2002536"/>
            <a:ext cx="1737360" cy="310896"/>
          </a:xfrm>
          <a:prstGeom prst="rect">
            <a:avLst/>
          </a:prstGeom>
          <a:noFill/>
        </p:spPr>
        <p:txBody>
          <a:bodyPr wrap="square"/>
          <a:lstStyle/>
          <a:p>
            <a:pPr algn="l"/>
            <a:r>
              <a:rPr sz="950" b="0" i="0">
                <a:solidFill>
                  <a:srgbClr val="111827"/>
                </a:solidFill>
                <a:latin typeface="Calibri"/>
              </a:rPr>
              <a:t>Spend averages</a:t>
            </a:r>
          </a:p>
        </p:txBody>
      </p:sp>
      <p:sp>
        <p:nvSpPr>
          <p:cNvPr id="44" name="Rectangle 43"/>
          <p:cNvSpPr/>
          <p:nvPr/>
        </p:nvSpPr>
        <p:spPr>
          <a:xfrm>
            <a:off x="9253728" y="1938528"/>
            <a:ext cx="1828800" cy="402336"/>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26880" y="2002536"/>
            <a:ext cx="1737360" cy="310896"/>
          </a:xfrm>
          <a:prstGeom prst="rect">
            <a:avLst/>
          </a:prstGeom>
          <a:noFill/>
        </p:spPr>
        <p:txBody>
          <a:bodyPr wrap="square"/>
          <a:lstStyle/>
          <a:p>
            <a:pPr algn="l"/>
            <a:r>
              <a:rPr sz="950" b="0" i="0">
                <a:solidFill>
                  <a:srgbClr val="059669"/>
                </a:solidFill>
                <a:latin typeface="Calibri"/>
              </a:rPr>
              <a:t>ICAO aircraft-type</a:t>
            </a:r>
          </a:p>
        </p:txBody>
      </p:sp>
      <p:sp>
        <p:nvSpPr>
          <p:cNvPr id="46" name="Rectangle 45"/>
          <p:cNvSpPr/>
          <p:nvPr/>
        </p:nvSpPr>
        <p:spPr>
          <a:xfrm>
            <a:off x="5916168" y="2340864"/>
            <a:ext cx="150876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89320" y="2404872"/>
            <a:ext cx="1417320" cy="310896"/>
          </a:xfrm>
          <a:prstGeom prst="rect">
            <a:avLst/>
          </a:prstGeom>
          <a:noFill/>
        </p:spPr>
        <p:txBody>
          <a:bodyPr wrap="square"/>
          <a:lstStyle/>
          <a:p>
            <a:pPr algn="l"/>
            <a:r>
              <a:rPr sz="950" b="1" i="0">
                <a:solidFill>
                  <a:srgbClr val="0E2C54"/>
                </a:solidFill>
                <a:latin typeface="Calibri"/>
              </a:rPr>
              <a:t>Granularity</a:t>
            </a:r>
          </a:p>
        </p:txBody>
      </p:sp>
      <p:sp>
        <p:nvSpPr>
          <p:cNvPr id="48" name="Rectangle 47"/>
          <p:cNvSpPr/>
          <p:nvPr/>
        </p:nvSpPr>
        <p:spPr>
          <a:xfrm>
            <a:off x="7424928" y="2340864"/>
            <a:ext cx="182880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98080" y="2404872"/>
            <a:ext cx="1737360" cy="310896"/>
          </a:xfrm>
          <a:prstGeom prst="rect">
            <a:avLst/>
          </a:prstGeom>
          <a:noFill/>
        </p:spPr>
        <p:txBody>
          <a:bodyPr wrap="square"/>
          <a:lstStyle/>
          <a:p>
            <a:pPr algn="l"/>
            <a:r>
              <a:rPr sz="950" b="0" i="0">
                <a:solidFill>
                  <a:srgbClr val="111827"/>
                </a:solidFill>
                <a:latin typeface="Calibri"/>
              </a:rPr>
              <a:t>Category level</a:t>
            </a:r>
          </a:p>
        </p:txBody>
      </p:sp>
      <p:sp>
        <p:nvSpPr>
          <p:cNvPr id="50" name="Rectangle 49"/>
          <p:cNvSpPr/>
          <p:nvPr/>
        </p:nvSpPr>
        <p:spPr>
          <a:xfrm>
            <a:off x="9253728" y="2340864"/>
            <a:ext cx="182880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326880" y="2404872"/>
            <a:ext cx="1737360" cy="310896"/>
          </a:xfrm>
          <a:prstGeom prst="rect">
            <a:avLst/>
          </a:prstGeom>
          <a:noFill/>
        </p:spPr>
        <p:txBody>
          <a:bodyPr wrap="square"/>
          <a:lstStyle/>
          <a:p>
            <a:pPr algn="l"/>
            <a:r>
              <a:rPr sz="950" b="0" i="0">
                <a:solidFill>
                  <a:srgbClr val="059669"/>
                </a:solidFill>
                <a:latin typeface="Calibri"/>
              </a:rPr>
              <a:t>Route + carrier level</a:t>
            </a:r>
          </a:p>
        </p:txBody>
      </p:sp>
      <p:sp>
        <p:nvSpPr>
          <p:cNvPr id="52" name="Rectangle 51"/>
          <p:cNvSpPr/>
          <p:nvPr/>
        </p:nvSpPr>
        <p:spPr>
          <a:xfrm>
            <a:off x="5916168" y="2743200"/>
            <a:ext cx="1508760" cy="402336"/>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89320" y="2807208"/>
            <a:ext cx="1417320" cy="310896"/>
          </a:xfrm>
          <a:prstGeom prst="rect">
            <a:avLst/>
          </a:prstGeom>
          <a:noFill/>
        </p:spPr>
        <p:txBody>
          <a:bodyPr wrap="square"/>
          <a:lstStyle/>
          <a:p>
            <a:pPr algn="l"/>
            <a:r>
              <a:rPr sz="950" b="1" i="0">
                <a:solidFill>
                  <a:srgbClr val="0E2C54"/>
                </a:solidFill>
                <a:latin typeface="Calibri"/>
              </a:rPr>
              <a:t>Audit readiness</a:t>
            </a:r>
          </a:p>
        </p:txBody>
      </p:sp>
      <p:sp>
        <p:nvSpPr>
          <p:cNvPr id="54" name="Rectangle 53"/>
          <p:cNvSpPr/>
          <p:nvPr/>
        </p:nvSpPr>
        <p:spPr>
          <a:xfrm>
            <a:off x="7424928" y="2743200"/>
            <a:ext cx="1828800" cy="402336"/>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98080" y="2807208"/>
            <a:ext cx="1737360" cy="310896"/>
          </a:xfrm>
          <a:prstGeom prst="rect">
            <a:avLst/>
          </a:prstGeom>
          <a:noFill/>
        </p:spPr>
        <p:txBody>
          <a:bodyPr wrap="square"/>
          <a:lstStyle/>
          <a:p>
            <a:pPr algn="l"/>
            <a:r>
              <a:rPr sz="950" b="0" i="0">
                <a:solidFill>
                  <a:srgbClr val="111827"/>
                </a:solidFill>
                <a:latin typeface="Calibri"/>
              </a:rPr>
              <a:t>Estimated</a:t>
            </a:r>
          </a:p>
        </p:txBody>
      </p:sp>
      <p:sp>
        <p:nvSpPr>
          <p:cNvPr id="56" name="Rectangle 55"/>
          <p:cNvSpPr/>
          <p:nvPr/>
        </p:nvSpPr>
        <p:spPr>
          <a:xfrm>
            <a:off x="9253728" y="2743200"/>
            <a:ext cx="1828800" cy="402336"/>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0" y="2807208"/>
            <a:ext cx="1737360" cy="310896"/>
          </a:xfrm>
          <a:prstGeom prst="rect">
            <a:avLst/>
          </a:prstGeom>
          <a:noFill/>
        </p:spPr>
        <p:txBody>
          <a:bodyPr wrap="square"/>
          <a:lstStyle/>
          <a:p>
            <a:pPr algn="l"/>
            <a:r>
              <a:rPr sz="950" b="0" i="0">
                <a:solidFill>
                  <a:srgbClr val="059669"/>
                </a:solidFill>
                <a:latin typeface="Calibri"/>
              </a:rPr>
              <a:t>Methodology-logged</a:t>
            </a:r>
          </a:p>
        </p:txBody>
      </p:sp>
      <p:sp>
        <p:nvSpPr>
          <p:cNvPr id="58" name="Rectangle 57"/>
          <p:cNvSpPr/>
          <p:nvPr/>
        </p:nvSpPr>
        <p:spPr>
          <a:xfrm>
            <a:off x="5916168" y="3145536"/>
            <a:ext cx="150876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89320" y="3209544"/>
            <a:ext cx="1417320" cy="310896"/>
          </a:xfrm>
          <a:prstGeom prst="rect">
            <a:avLst/>
          </a:prstGeom>
          <a:noFill/>
        </p:spPr>
        <p:txBody>
          <a:bodyPr wrap="square"/>
          <a:lstStyle/>
          <a:p>
            <a:pPr algn="l"/>
            <a:r>
              <a:rPr sz="950" b="1" i="0">
                <a:solidFill>
                  <a:srgbClr val="0E2C54"/>
                </a:solidFill>
                <a:latin typeface="Calibri"/>
              </a:rPr>
              <a:t>Reporting</a:t>
            </a:r>
          </a:p>
        </p:txBody>
      </p:sp>
      <p:sp>
        <p:nvSpPr>
          <p:cNvPr id="60" name="Rectangle 59"/>
          <p:cNvSpPr/>
          <p:nvPr/>
        </p:nvSpPr>
        <p:spPr>
          <a:xfrm>
            <a:off x="7424928" y="3145536"/>
            <a:ext cx="182880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498080" y="3209544"/>
            <a:ext cx="1737360" cy="310896"/>
          </a:xfrm>
          <a:prstGeom prst="rect">
            <a:avLst/>
          </a:prstGeom>
          <a:noFill/>
        </p:spPr>
        <p:txBody>
          <a:bodyPr wrap="square"/>
          <a:lstStyle/>
          <a:p>
            <a:pPr algn="l"/>
            <a:r>
              <a:rPr sz="950" b="0" i="0">
                <a:solidFill>
                  <a:srgbClr val="111827"/>
                </a:solidFill>
                <a:latin typeface="Calibri"/>
              </a:rPr>
              <a:t>Manual export</a:t>
            </a:r>
          </a:p>
        </p:txBody>
      </p:sp>
      <p:sp>
        <p:nvSpPr>
          <p:cNvPr id="62" name="Rectangle 61"/>
          <p:cNvSpPr/>
          <p:nvPr/>
        </p:nvSpPr>
        <p:spPr>
          <a:xfrm>
            <a:off x="9253728" y="3145536"/>
            <a:ext cx="1828800" cy="402336"/>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26880" y="3209544"/>
            <a:ext cx="1737360" cy="310896"/>
          </a:xfrm>
          <a:prstGeom prst="rect">
            <a:avLst/>
          </a:prstGeom>
          <a:noFill/>
        </p:spPr>
        <p:txBody>
          <a:bodyPr wrap="square"/>
          <a:lstStyle/>
          <a:p>
            <a:pPr algn="l"/>
            <a:r>
              <a:rPr sz="950" b="0" i="0">
                <a:solidFill>
                  <a:srgbClr val="059669"/>
                </a:solidFill>
                <a:latin typeface="Calibri"/>
              </a:rPr>
              <a:t>Direct Scope 3 flow</a:t>
            </a:r>
          </a:p>
        </p:txBody>
      </p:sp>
      <p:sp>
        <p:nvSpPr>
          <p:cNvPr id="64" name="TextBox 63"/>
          <p:cNvSpPr txBox="1"/>
          <p:nvPr/>
        </p:nvSpPr>
        <p:spPr>
          <a:xfrm>
            <a:off x="685800" y="6035040"/>
            <a:ext cx="10820095" cy="347472"/>
          </a:xfrm>
          <a:prstGeom prst="rect">
            <a:avLst/>
          </a:prstGeom>
          <a:noFill/>
        </p:spPr>
        <p:txBody>
          <a:bodyPr wrap="square"/>
          <a:lstStyle/>
          <a:p>
            <a:pPr algn="l"/>
            <a:r>
              <a:rPr sz="950" b="0" i="1">
                <a:solidFill>
                  <a:srgbClr val="6B7280"/>
                </a:solidFill>
                <a:latin typeface="Calibri"/>
              </a:rPr>
              <a:t>The accuracy of DIS Travel's carbon capability depends on route-level aircraft-type data — the specific data dependency that makes the Skyscanner partnership architecturally necessary.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08</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Three Forces Creating Demand Now</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8 / 12</a:t>
            </a:r>
          </a:p>
        </p:txBody>
      </p:sp>
      <p:sp>
        <p:nvSpPr>
          <p:cNvPr id="10" name="TextBox 9"/>
          <p:cNvSpPr txBox="1"/>
          <p:nvPr/>
        </p:nvSpPr>
        <p:spPr>
          <a:xfrm>
            <a:off x="685800" y="822960"/>
            <a:ext cx="10820095" cy="320040"/>
          </a:xfrm>
          <a:prstGeom prst="rect">
            <a:avLst/>
          </a:prstGeom>
          <a:noFill/>
        </p:spPr>
        <p:txBody>
          <a:bodyPr wrap="square"/>
          <a:lstStyle/>
          <a:p>
            <a:pPr algn="l"/>
            <a:r>
              <a:rPr sz="1100" b="0" i="1">
                <a:solidFill>
                  <a:srgbClr val="6B7280"/>
                </a:solidFill>
                <a:latin typeface="Calibri"/>
              </a:rPr>
              <a:t>DIS Travel is positioned as the first platform to make CSRD-compliant travel intelligence architecturally achievable — a narrow, specific, and defensible position.</a:t>
            </a:r>
          </a:p>
        </p:txBody>
      </p:sp>
      <p:sp>
        <p:nvSpPr>
          <p:cNvPr id="11" name="Rectangle 10"/>
          <p:cNvSpPr/>
          <p:nvPr/>
        </p:nvSpPr>
        <p:spPr>
          <a:xfrm>
            <a:off x="685800" y="1225296"/>
            <a:ext cx="3547872" cy="475488"/>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3273552" cy="384048"/>
          </a:xfrm>
          <a:prstGeom prst="rect">
            <a:avLst/>
          </a:prstGeom>
          <a:noFill/>
        </p:spPr>
        <p:txBody>
          <a:bodyPr wrap="square"/>
          <a:lstStyle/>
          <a:p>
            <a:pPr algn="l"/>
            <a:r>
              <a:rPr sz="2200" b="1" i="0">
                <a:solidFill>
                  <a:srgbClr val="FFFFFF"/>
                </a:solidFill>
                <a:latin typeface="Calibri"/>
              </a:rPr>
              <a:t>01</a:t>
            </a:r>
          </a:p>
        </p:txBody>
      </p:sp>
      <p:sp>
        <p:nvSpPr>
          <p:cNvPr id="13" name="Rectangle 12"/>
          <p:cNvSpPr/>
          <p:nvPr/>
        </p:nvSpPr>
        <p:spPr>
          <a:xfrm>
            <a:off x="685800" y="1700784"/>
            <a:ext cx="3547872" cy="804672"/>
          </a:xfrm>
          <a:prstGeom prst="rect">
            <a:avLst/>
          </a:prstGeom>
          <a:solidFill>
            <a:srgbClr val="F6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1847088"/>
            <a:ext cx="3273552" cy="621792"/>
          </a:xfrm>
          <a:prstGeom prst="rect">
            <a:avLst/>
          </a:prstGeom>
          <a:noFill/>
        </p:spPr>
        <p:txBody>
          <a:bodyPr wrap="square"/>
          <a:lstStyle/>
          <a:p>
            <a:pPr algn="l"/>
            <a:r>
              <a:rPr sz="1200" b="1" i="0">
                <a:solidFill>
                  <a:srgbClr val="0E2C54"/>
                </a:solidFill>
                <a:latin typeface="Calibri"/>
              </a:rPr>
              <a:t>CSRD Compliance</a:t>
            </a:r>
          </a:p>
          <a:p>
            <a:pPr algn="l"/>
            <a:r>
              <a:rPr sz="1200" b="1" i="0">
                <a:solidFill>
                  <a:srgbClr val="0E2C54"/>
                </a:solidFill>
                <a:latin typeface="Calibri"/>
              </a:rPr>
              <a:t>Is Active and Urgent</a:t>
            </a:r>
          </a:p>
        </p:txBody>
      </p:sp>
      <p:sp>
        <p:nvSpPr>
          <p:cNvPr id="15" name="Rectangle 14"/>
          <p:cNvSpPr/>
          <p:nvPr/>
        </p:nvSpPr>
        <p:spPr>
          <a:xfrm>
            <a:off x="685800" y="2505456"/>
            <a:ext cx="3547872" cy="29260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670048"/>
            <a:ext cx="3273552" cy="2706624"/>
          </a:xfrm>
          <a:prstGeom prst="rect">
            <a:avLst/>
          </a:prstGeom>
          <a:noFill/>
        </p:spPr>
        <p:txBody>
          <a:bodyPr wrap="square"/>
          <a:lstStyle/>
          <a:p>
            <a:pPr algn="l"/>
            <a:r>
              <a:rPr sz="1050" b="0" i="0">
                <a:solidFill>
                  <a:srgbClr val="111827"/>
                </a:solidFill>
                <a:latin typeface="Calibri"/>
              </a:rPr>
              <a:t>The EU Corporate Sustainability Reporting Directive is in force. Companies in scope are actively building Scope 3 measurement infrastructure. Business travel is a primary category. Compliance deadlines create procurement budget and urgency that did not exist two years ago.</a:t>
            </a:r>
          </a:p>
        </p:txBody>
      </p:sp>
      <p:sp>
        <p:nvSpPr>
          <p:cNvPr id="17" name="Rectangle 16"/>
          <p:cNvSpPr/>
          <p:nvPr/>
        </p:nvSpPr>
        <p:spPr>
          <a:xfrm>
            <a:off x="4398264" y="1225296"/>
            <a:ext cx="3547872" cy="475488"/>
          </a:xfrm>
          <a:prstGeom prst="rect">
            <a:avLst/>
          </a:prstGeom>
          <a:solidFill>
            <a:srgbClr val="025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1280160"/>
            <a:ext cx="3273552" cy="384048"/>
          </a:xfrm>
          <a:prstGeom prst="rect">
            <a:avLst/>
          </a:prstGeom>
          <a:noFill/>
        </p:spPr>
        <p:txBody>
          <a:bodyPr wrap="square"/>
          <a:lstStyle/>
          <a:p>
            <a:pPr algn="l"/>
            <a:r>
              <a:rPr sz="2200" b="1" i="0">
                <a:solidFill>
                  <a:srgbClr val="FFFFFF"/>
                </a:solidFill>
                <a:latin typeface="Calibri"/>
              </a:rPr>
              <a:t>02</a:t>
            </a:r>
          </a:p>
        </p:txBody>
      </p:sp>
      <p:sp>
        <p:nvSpPr>
          <p:cNvPr id="19" name="Rectangle 18"/>
          <p:cNvSpPr/>
          <p:nvPr/>
        </p:nvSpPr>
        <p:spPr>
          <a:xfrm>
            <a:off x="4398264" y="1700784"/>
            <a:ext cx="3547872" cy="804672"/>
          </a:xfrm>
          <a:prstGeom prst="rect">
            <a:avLst/>
          </a:prstGeom>
          <a:solidFill>
            <a:srgbClr val="F6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4" y="1847088"/>
            <a:ext cx="3273552" cy="621792"/>
          </a:xfrm>
          <a:prstGeom prst="rect">
            <a:avLst/>
          </a:prstGeom>
          <a:noFill/>
        </p:spPr>
        <p:txBody>
          <a:bodyPr wrap="square"/>
          <a:lstStyle/>
          <a:p>
            <a:pPr algn="l"/>
            <a:r>
              <a:rPr sz="1200" b="1" i="0">
                <a:solidFill>
                  <a:srgbClr val="025A46"/>
                </a:solidFill>
                <a:latin typeface="Calibri"/>
              </a:rPr>
              <a:t>AI Infrastructure Has</a:t>
            </a:r>
          </a:p>
          <a:p>
            <a:pPr algn="l"/>
            <a:r>
              <a:rPr sz="1200" b="1" i="0">
                <a:solidFill>
                  <a:srgbClr val="025A46"/>
                </a:solidFill>
                <a:latin typeface="Calibri"/>
              </a:rPr>
              <a:t>Reached Enterprise Viability</a:t>
            </a:r>
          </a:p>
        </p:txBody>
      </p:sp>
      <p:sp>
        <p:nvSpPr>
          <p:cNvPr id="21" name="Rectangle 20"/>
          <p:cNvSpPr/>
          <p:nvPr/>
        </p:nvSpPr>
        <p:spPr>
          <a:xfrm>
            <a:off x="4398264" y="2505456"/>
            <a:ext cx="3547872" cy="29260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35424" y="2670048"/>
            <a:ext cx="3273552" cy="2706624"/>
          </a:xfrm>
          <a:prstGeom prst="rect">
            <a:avLst/>
          </a:prstGeom>
          <a:noFill/>
        </p:spPr>
        <p:txBody>
          <a:bodyPr wrap="square"/>
          <a:lstStyle/>
          <a:p>
            <a:pPr algn="l"/>
            <a:r>
              <a:rPr sz="1050" b="0" i="0">
                <a:solidFill>
                  <a:srgbClr val="111827"/>
                </a:solidFill>
                <a:latin typeface="Calibri"/>
              </a:rPr>
              <a:t>The large language models, data pipelines, and inference infrastructure that DIS Travel requires are now commercially available at the cost, latency, and reliability thresholds that enterprise software demands. Building this was technically possible but economically marginal three years ago.</a:t>
            </a:r>
          </a:p>
        </p:txBody>
      </p:sp>
      <p:sp>
        <p:nvSpPr>
          <p:cNvPr id="23" name="Rectangle 22"/>
          <p:cNvSpPr/>
          <p:nvPr/>
        </p:nvSpPr>
        <p:spPr>
          <a:xfrm>
            <a:off x="8110728" y="1225296"/>
            <a:ext cx="3547872" cy="475488"/>
          </a:xfrm>
          <a:prstGeom prst="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47888" y="1280160"/>
            <a:ext cx="3273552" cy="384048"/>
          </a:xfrm>
          <a:prstGeom prst="rect">
            <a:avLst/>
          </a:prstGeom>
          <a:noFill/>
        </p:spPr>
        <p:txBody>
          <a:bodyPr wrap="square"/>
          <a:lstStyle/>
          <a:p>
            <a:pPr algn="l"/>
            <a:r>
              <a:rPr sz="2200" b="1" i="0">
                <a:solidFill>
                  <a:srgbClr val="FFFFFF"/>
                </a:solidFill>
                <a:latin typeface="Calibri"/>
              </a:rPr>
              <a:t>03</a:t>
            </a:r>
          </a:p>
        </p:txBody>
      </p:sp>
      <p:sp>
        <p:nvSpPr>
          <p:cNvPr id="25" name="Rectangle 24"/>
          <p:cNvSpPr/>
          <p:nvPr/>
        </p:nvSpPr>
        <p:spPr>
          <a:xfrm>
            <a:off x="8110728" y="1700784"/>
            <a:ext cx="3547872" cy="804672"/>
          </a:xfrm>
          <a:prstGeom prst="rect">
            <a:avLst/>
          </a:prstGeom>
          <a:solidFill>
            <a:srgbClr val="F6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47888" y="1847088"/>
            <a:ext cx="3273552" cy="621792"/>
          </a:xfrm>
          <a:prstGeom prst="rect">
            <a:avLst/>
          </a:prstGeom>
          <a:noFill/>
        </p:spPr>
        <p:txBody>
          <a:bodyPr wrap="square"/>
          <a:lstStyle/>
          <a:p>
            <a:pPr algn="l"/>
            <a:r>
              <a:rPr sz="1200" b="1" i="0">
                <a:solidFill>
                  <a:srgbClr val="581C87"/>
                </a:solidFill>
                <a:latin typeface="Calibri"/>
              </a:rPr>
              <a:t>Corporate Travel Buyers Are</a:t>
            </a:r>
          </a:p>
          <a:p>
            <a:pPr algn="l"/>
            <a:r>
              <a:rPr sz="1200" b="1" i="0">
                <a:solidFill>
                  <a:srgbClr val="581C87"/>
                </a:solidFill>
                <a:latin typeface="Calibri"/>
              </a:rPr>
              <a:t>Redefining Requirements</a:t>
            </a:r>
          </a:p>
        </p:txBody>
      </p:sp>
      <p:sp>
        <p:nvSpPr>
          <p:cNvPr id="27" name="Rectangle 26"/>
          <p:cNvSpPr/>
          <p:nvPr/>
        </p:nvSpPr>
        <p:spPr>
          <a:xfrm>
            <a:off x="8110728" y="2505456"/>
            <a:ext cx="3547872" cy="2926080"/>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47888" y="2670048"/>
            <a:ext cx="3273552" cy="2706624"/>
          </a:xfrm>
          <a:prstGeom prst="rect">
            <a:avLst/>
          </a:prstGeom>
          <a:noFill/>
        </p:spPr>
        <p:txBody>
          <a:bodyPr wrap="square"/>
          <a:lstStyle/>
          <a:p>
            <a:pPr algn="l"/>
            <a:r>
              <a:rPr sz="1050" b="0" i="0">
                <a:solidFill>
                  <a:srgbClr val="111827"/>
                </a:solidFill>
                <a:latin typeface="Calibri"/>
              </a:rPr>
              <a:t>Corporate travel budgets have returned to pre-2020 levels — but the conversations around them have changed. CFOs are asking about ESG alignment. Procurement teams are asking about audit readiness. Sustainability teams are asking about Scope 3 methodology. The tool set has not kept pace.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09</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Why Skyscanner Is Architecturally Necessary</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9 / 12</a:t>
            </a:r>
          </a:p>
        </p:txBody>
      </p:sp>
      <p:sp>
        <p:nvSpPr>
          <p:cNvPr id="10" name="TextBox 9"/>
          <p:cNvSpPr txBox="1"/>
          <p:nvPr/>
        </p:nvSpPr>
        <p:spPr>
          <a:xfrm>
            <a:off x="685800" y="822960"/>
            <a:ext cx="10820095" cy="292608"/>
          </a:xfrm>
          <a:prstGeom prst="rect">
            <a:avLst/>
          </a:prstGeom>
          <a:noFill/>
        </p:spPr>
        <p:txBody>
          <a:bodyPr wrap="square"/>
          <a:lstStyle/>
          <a:p>
            <a:pPr algn="l"/>
            <a:r>
              <a:rPr sz="1100" b="0" i="1">
                <a:solidFill>
                  <a:srgbClr val="6B7280"/>
                </a:solidFill>
                <a:latin typeface="Calibri"/>
              </a:rPr>
              <a:t>We have evaluated the data landscape carefully. Skyscanner's value to DIS Travel is specific, not generic.</a:t>
            </a:r>
          </a:p>
        </p:txBody>
      </p:sp>
      <p:sp>
        <p:nvSpPr>
          <p:cNvPr id="11" name="Rectangle 10"/>
          <p:cNvSpPr/>
          <p:nvPr/>
        </p:nvSpPr>
        <p:spPr>
          <a:xfrm>
            <a:off x="685800" y="1207008"/>
            <a:ext cx="347472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1261872"/>
            <a:ext cx="3328416" cy="329184"/>
          </a:xfrm>
          <a:prstGeom prst="rect">
            <a:avLst/>
          </a:prstGeom>
          <a:noFill/>
        </p:spPr>
        <p:txBody>
          <a:bodyPr wrap="square"/>
          <a:lstStyle/>
          <a:p>
            <a:pPr algn="l"/>
            <a:r>
              <a:rPr sz="950" b="1" i="0">
                <a:solidFill>
                  <a:srgbClr val="FFFFFF"/>
                </a:solidFill>
                <a:latin typeface="Calibri"/>
              </a:rPr>
              <a:t>What DIS Travel Requires</a:t>
            </a:r>
          </a:p>
        </p:txBody>
      </p:sp>
      <p:sp>
        <p:nvSpPr>
          <p:cNvPr id="13" name="Rectangle 12"/>
          <p:cNvSpPr/>
          <p:nvPr/>
        </p:nvSpPr>
        <p:spPr>
          <a:xfrm>
            <a:off x="4160520" y="1207008"/>
            <a:ext cx="726948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0248" y="1261872"/>
            <a:ext cx="7123176" cy="329184"/>
          </a:xfrm>
          <a:prstGeom prst="rect">
            <a:avLst/>
          </a:prstGeom>
          <a:noFill/>
        </p:spPr>
        <p:txBody>
          <a:bodyPr wrap="square"/>
          <a:lstStyle/>
          <a:p>
            <a:pPr algn="l"/>
            <a:r>
              <a:rPr sz="950" b="1" i="0">
                <a:solidFill>
                  <a:srgbClr val="FFFFFF"/>
                </a:solidFill>
                <a:latin typeface="Calibri"/>
              </a:rPr>
              <a:t>Why Skyscanner — Specifically</a:t>
            </a:r>
          </a:p>
        </p:txBody>
      </p:sp>
      <p:sp>
        <p:nvSpPr>
          <p:cNvPr id="15" name="Rectangle 14"/>
          <p:cNvSpPr/>
          <p:nvPr/>
        </p:nvSpPr>
        <p:spPr>
          <a:xfrm>
            <a:off x="685800" y="1609344"/>
            <a:ext cx="3474720" cy="6217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1664208"/>
            <a:ext cx="3328416" cy="548640"/>
          </a:xfrm>
          <a:prstGeom prst="rect">
            <a:avLst/>
          </a:prstGeom>
          <a:noFill/>
        </p:spPr>
        <p:txBody>
          <a:bodyPr wrap="square"/>
          <a:lstStyle/>
          <a:p>
            <a:pPr algn="l"/>
            <a:r>
              <a:rPr sz="1000" b="1" i="0">
                <a:solidFill>
                  <a:srgbClr val="0E2C54"/>
                </a:solidFill>
                <a:latin typeface="Calibri"/>
              </a:rPr>
              <a:t>Route-level aircraft metadata</a:t>
            </a:r>
          </a:p>
        </p:txBody>
      </p:sp>
      <p:sp>
        <p:nvSpPr>
          <p:cNvPr id="17" name="Rectangle 16"/>
          <p:cNvSpPr/>
          <p:nvPr/>
        </p:nvSpPr>
        <p:spPr>
          <a:xfrm>
            <a:off x="4160520" y="1609344"/>
            <a:ext cx="7269480" cy="6217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70248" y="1664208"/>
            <a:ext cx="7123176" cy="548640"/>
          </a:xfrm>
          <a:prstGeom prst="rect">
            <a:avLst/>
          </a:prstGeom>
          <a:noFill/>
        </p:spPr>
        <p:txBody>
          <a:bodyPr wrap="square"/>
          <a:lstStyle/>
          <a:p>
            <a:pPr algn="l"/>
            <a:r>
              <a:rPr sz="1000" b="0" i="0">
                <a:solidFill>
                  <a:srgbClr val="111827"/>
                </a:solidFill>
                <a:latin typeface="Calibri"/>
              </a:rPr>
              <a:t>Required for ICAO/GHG Protocol carbon attribution. Available at depth through Skyscanner's partner programme in a way consumer-facing sources do not provide.</a:t>
            </a:r>
          </a:p>
        </p:txBody>
      </p:sp>
      <p:sp>
        <p:nvSpPr>
          <p:cNvPr id="19" name="Rectangle 18"/>
          <p:cNvSpPr/>
          <p:nvPr/>
        </p:nvSpPr>
        <p:spPr>
          <a:xfrm>
            <a:off x="685800" y="2231136"/>
            <a:ext cx="3474720" cy="6217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5528" y="2286000"/>
            <a:ext cx="3328416" cy="548640"/>
          </a:xfrm>
          <a:prstGeom prst="rect">
            <a:avLst/>
          </a:prstGeom>
          <a:noFill/>
        </p:spPr>
        <p:txBody>
          <a:bodyPr wrap="square"/>
          <a:lstStyle/>
          <a:p>
            <a:pPr algn="l"/>
            <a:r>
              <a:rPr sz="1000" b="1" i="0">
                <a:solidFill>
                  <a:srgbClr val="0E2C54"/>
                </a:solidFill>
                <a:latin typeface="Calibri"/>
              </a:rPr>
              <a:t>European route coverage</a:t>
            </a:r>
          </a:p>
        </p:txBody>
      </p:sp>
      <p:sp>
        <p:nvSpPr>
          <p:cNvPr id="21" name="Rectangle 20"/>
          <p:cNvSpPr/>
          <p:nvPr/>
        </p:nvSpPr>
        <p:spPr>
          <a:xfrm>
            <a:off x="4160520" y="2231136"/>
            <a:ext cx="7269480" cy="6217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70248" y="2286000"/>
            <a:ext cx="7123176" cy="548640"/>
          </a:xfrm>
          <a:prstGeom prst="rect">
            <a:avLst/>
          </a:prstGeom>
          <a:noFill/>
        </p:spPr>
        <p:txBody>
          <a:bodyPr wrap="square"/>
          <a:lstStyle/>
          <a:p>
            <a:pPr algn="l"/>
            <a:r>
              <a:rPr sz="1000" b="0" i="0">
                <a:solidFill>
                  <a:srgbClr val="111827"/>
                </a:solidFill>
                <a:latin typeface="Calibri"/>
              </a:rPr>
              <a:t>Skyscanner's depth in European routes aligns with DIS Travel's launch market. Accuracy across these routes is critical for initial enterprise customers.</a:t>
            </a:r>
          </a:p>
        </p:txBody>
      </p:sp>
      <p:sp>
        <p:nvSpPr>
          <p:cNvPr id="23" name="Rectangle 22"/>
          <p:cNvSpPr/>
          <p:nvPr/>
        </p:nvSpPr>
        <p:spPr>
          <a:xfrm>
            <a:off x="685800" y="2852928"/>
            <a:ext cx="3474720" cy="6217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5528" y="2907792"/>
            <a:ext cx="3328416" cy="548640"/>
          </a:xfrm>
          <a:prstGeom prst="rect">
            <a:avLst/>
          </a:prstGeom>
          <a:noFill/>
        </p:spPr>
        <p:txBody>
          <a:bodyPr wrap="square"/>
          <a:lstStyle/>
          <a:p>
            <a:pPr algn="l"/>
            <a:r>
              <a:rPr sz="1000" b="1" i="0">
                <a:solidFill>
                  <a:srgbClr val="0E2C54"/>
                </a:solidFill>
                <a:latin typeface="Calibri"/>
              </a:rPr>
              <a:t>Structured B2B partner infrastructure</a:t>
            </a:r>
          </a:p>
        </p:txBody>
      </p:sp>
      <p:sp>
        <p:nvSpPr>
          <p:cNvPr id="25" name="Rectangle 24"/>
          <p:cNvSpPr/>
          <p:nvPr/>
        </p:nvSpPr>
        <p:spPr>
          <a:xfrm>
            <a:off x="4160520" y="2852928"/>
            <a:ext cx="7269480" cy="6217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70248" y="2907792"/>
            <a:ext cx="7123176" cy="548640"/>
          </a:xfrm>
          <a:prstGeom prst="rect">
            <a:avLst/>
          </a:prstGeom>
          <a:noFill/>
        </p:spPr>
        <p:txBody>
          <a:bodyPr wrap="square"/>
          <a:lstStyle/>
          <a:p>
            <a:pPr algn="l"/>
            <a:r>
              <a:rPr sz="1000" b="0" i="0">
                <a:solidFill>
                  <a:srgbClr val="111827"/>
                </a:solidFill>
                <a:latin typeface="Calibri"/>
              </a:rPr>
              <a:t>Skyscanner has built a partner programme with the data contracts, SLAs, and API design that enterprise integrations require. Reduces integration risk for both parties.</a:t>
            </a:r>
          </a:p>
        </p:txBody>
      </p:sp>
      <p:sp>
        <p:nvSpPr>
          <p:cNvPr id="27" name="Rectangle 26"/>
          <p:cNvSpPr/>
          <p:nvPr/>
        </p:nvSpPr>
        <p:spPr>
          <a:xfrm>
            <a:off x="685800" y="3474720"/>
            <a:ext cx="3474720" cy="6217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5528" y="3529584"/>
            <a:ext cx="3328416" cy="548640"/>
          </a:xfrm>
          <a:prstGeom prst="rect">
            <a:avLst/>
          </a:prstGeom>
          <a:noFill/>
        </p:spPr>
        <p:txBody>
          <a:bodyPr wrap="square"/>
          <a:lstStyle/>
          <a:p>
            <a:pPr algn="l"/>
            <a:r>
              <a:rPr sz="1000" b="1" i="0">
                <a:solidFill>
                  <a:srgbClr val="0E2C54"/>
                </a:solidFill>
                <a:latin typeface="Calibri"/>
              </a:rPr>
              <a:t>Real-time pricing signals</a:t>
            </a:r>
          </a:p>
        </p:txBody>
      </p:sp>
      <p:sp>
        <p:nvSpPr>
          <p:cNvPr id="29" name="Rectangle 28"/>
          <p:cNvSpPr/>
          <p:nvPr/>
        </p:nvSpPr>
        <p:spPr>
          <a:xfrm>
            <a:off x="4160520" y="3474720"/>
            <a:ext cx="7269480" cy="6217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70248" y="3529584"/>
            <a:ext cx="7123176" cy="548640"/>
          </a:xfrm>
          <a:prstGeom prst="rect">
            <a:avLst/>
          </a:prstGeom>
          <a:noFill/>
        </p:spPr>
        <p:txBody>
          <a:bodyPr wrap="square"/>
          <a:lstStyle/>
          <a:p>
            <a:pPr algn="l"/>
            <a:r>
              <a:rPr sz="1000" b="0" i="0">
                <a:solidFill>
                  <a:srgbClr val="111827"/>
                </a:solidFill>
                <a:latin typeface="Calibri"/>
              </a:rPr>
              <a:t>Market intelligence requires live data. Skyscanner's real-time pricing infrastructure is the signal layer that makes booking-window recommendations actionable.</a:t>
            </a:r>
          </a:p>
        </p:txBody>
      </p:sp>
      <p:sp>
        <p:nvSpPr>
          <p:cNvPr id="31" name="TextBox 30"/>
          <p:cNvSpPr txBox="1"/>
          <p:nvPr/>
        </p:nvSpPr>
        <p:spPr>
          <a:xfrm>
            <a:off x="685800" y="4224528"/>
            <a:ext cx="10820095" cy="256032"/>
          </a:xfrm>
          <a:prstGeom prst="rect">
            <a:avLst/>
          </a:prstGeom>
          <a:noFill/>
        </p:spPr>
        <p:txBody>
          <a:bodyPr wrap="square"/>
          <a:lstStyle/>
          <a:p>
            <a:pPr algn="l"/>
            <a:r>
              <a:rPr sz="850" b="1" i="0">
                <a:solidFill>
                  <a:srgbClr val="2563EB"/>
                </a:solidFill>
                <a:latin typeface="Calibri"/>
              </a:rPr>
              <a:t>WHAT DIS TRAVEL BRINGS TO SKYSCANNER</a:t>
            </a:r>
          </a:p>
        </p:txBody>
      </p:sp>
      <p:sp>
        <p:nvSpPr>
          <p:cNvPr id="32" name="TextBox 31"/>
          <p:cNvSpPr txBox="1"/>
          <p:nvPr/>
        </p:nvSpPr>
        <p:spPr>
          <a:xfrm>
            <a:off x="685800" y="4498848"/>
            <a:ext cx="5349240" cy="329184"/>
          </a:xfrm>
          <a:prstGeom prst="rect">
            <a:avLst/>
          </a:prstGeom>
          <a:noFill/>
        </p:spPr>
        <p:txBody>
          <a:bodyPr wrap="square"/>
          <a:lstStyle/>
          <a:p>
            <a:pPr algn="l"/>
            <a:r>
              <a:rPr sz="1000" b="0" i="0">
                <a:solidFill>
                  <a:srgbClr val="111827"/>
                </a:solidFill>
                <a:latin typeface="Calibri"/>
              </a:rPr>
              <a:t>  ·  Access to corporate buyers — a B2B market Skyscanner's consumer product does not directly serve</a:t>
            </a:r>
          </a:p>
        </p:txBody>
      </p:sp>
      <p:sp>
        <p:nvSpPr>
          <p:cNvPr id="33" name="TextBox 32"/>
          <p:cNvSpPr txBox="1"/>
          <p:nvPr/>
        </p:nvSpPr>
        <p:spPr>
          <a:xfrm>
            <a:off x="6419088" y="4498848"/>
            <a:ext cx="5349240" cy="329184"/>
          </a:xfrm>
          <a:prstGeom prst="rect">
            <a:avLst/>
          </a:prstGeom>
          <a:noFill/>
        </p:spPr>
        <p:txBody>
          <a:bodyPr wrap="square"/>
          <a:lstStyle/>
          <a:p>
            <a:pPr algn="l"/>
            <a:r>
              <a:rPr sz="1000" b="0" i="0">
                <a:solidFill>
                  <a:srgbClr val="111827"/>
                </a:solidFill>
                <a:latin typeface="Calibri"/>
              </a:rPr>
              <a:t>  ·  CSRD-driven demand: enterprise buyers with compliance obligations and dedicated budget for intelligence tools</a:t>
            </a:r>
          </a:p>
        </p:txBody>
      </p:sp>
      <p:sp>
        <p:nvSpPr>
          <p:cNvPr id="34" name="TextBox 33"/>
          <p:cNvSpPr txBox="1"/>
          <p:nvPr/>
        </p:nvSpPr>
        <p:spPr>
          <a:xfrm>
            <a:off x="685800" y="4864608"/>
            <a:ext cx="5349240" cy="329184"/>
          </a:xfrm>
          <a:prstGeom prst="rect">
            <a:avLst/>
          </a:prstGeom>
          <a:noFill/>
        </p:spPr>
        <p:txBody>
          <a:bodyPr wrap="square"/>
          <a:lstStyle/>
          <a:p>
            <a:pPr algn="l"/>
            <a:r>
              <a:rPr sz="1000" b="0" i="0">
                <a:solidFill>
                  <a:srgbClr val="111827"/>
                </a:solidFill>
                <a:latin typeface="Calibri"/>
              </a:rPr>
              <a:t>  ·  Long-term architectural investment — Skyscanner as the foundation data layer for a decade-horizon platform</a:t>
            </a:r>
          </a:p>
        </p:txBody>
      </p:sp>
      <p:sp>
        <p:nvSpPr>
          <p:cNvPr id="35" name="TextBox 34"/>
          <p:cNvSpPr txBox="1"/>
          <p:nvPr/>
        </p:nvSpPr>
        <p:spPr>
          <a:xfrm>
            <a:off x="6419088" y="4864608"/>
            <a:ext cx="5349240" cy="329184"/>
          </a:xfrm>
          <a:prstGeom prst="rect">
            <a:avLst/>
          </a:prstGeom>
          <a:noFill/>
        </p:spPr>
        <p:txBody>
          <a:bodyPr wrap="square"/>
          <a:lstStyle/>
          <a:p>
            <a:pPr algn="l"/>
            <a:r>
              <a:rPr sz="1000" b="0" i="0">
                <a:solidFill>
                  <a:srgbClr val="111827"/>
                </a:solidFill>
                <a:latin typeface="Calibri"/>
              </a:rPr>
              <a:t>  ·  Distribution: when DIS Travel identifies the optimal option, the booking connects to Skyscanner's supplier network</a:t>
            </a:r>
          </a:p>
        </p:txBody>
      </p:sp>
      <p:sp>
        <p:nvSpPr>
          <p:cNvPr id="36" name="Rectangle 35"/>
          <p:cNvSpPr/>
          <p:nvPr/>
        </p:nvSpPr>
        <p:spPr>
          <a:xfrm>
            <a:off x="685800" y="5998464"/>
            <a:ext cx="10820095" cy="402336"/>
          </a:xfrm>
          <a:prstGeom prst="rect">
            <a:avLst/>
          </a:prstGeom>
          <a:solidFill>
            <a:srgbClr val="EBF2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6071616"/>
            <a:ext cx="10545775" cy="292608"/>
          </a:xfrm>
          <a:prstGeom prst="rect">
            <a:avLst/>
          </a:prstGeom>
          <a:noFill/>
        </p:spPr>
        <p:txBody>
          <a:bodyPr wrap="square"/>
          <a:lstStyle/>
          <a:p>
            <a:pPr algn="ctr"/>
            <a:r>
              <a:rPr sz="1050" b="1" i="0">
                <a:solidFill>
                  <a:srgbClr val="0E2C54"/>
                </a:solidFill>
                <a:latin typeface="Calibri"/>
              </a:rPr>
              <a:t>Skyscanner serves travellers.  DIS Travel serves the organisations that employ them.  The relationship is complementary, not competitive.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10</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What We Are Proposing to Build Together</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10 / 12</a:t>
            </a:r>
          </a:p>
        </p:txBody>
      </p:sp>
      <p:sp>
        <p:nvSpPr>
          <p:cNvPr id="10" name="Rectangle 9"/>
          <p:cNvSpPr/>
          <p:nvPr/>
        </p:nvSpPr>
        <p:spPr>
          <a:xfrm>
            <a:off x="685800" y="877824"/>
            <a:ext cx="3547872" cy="420624"/>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932688"/>
            <a:ext cx="3328416" cy="329184"/>
          </a:xfrm>
          <a:prstGeom prst="rect">
            <a:avLst/>
          </a:prstGeom>
          <a:noFill/>
        </p:spPr>
        <p:txBody>
          <a:bodyPr wrap="square"/>
          <a:lstStyle/>
          <a:p>
            <a:pPr algn="l"/>
            <a:r>
              <a:rPr sz="1000" b="1" i="0">
                <a:solidFill>
                  <a:srgbClr val="FFFFFF"/>
                </a:solidFill>
                <a:latin typeface="Calibri"/>
              </a:rPr>
              <a:t>01  DATA FOUNDATION</a:t>
            </a:r>
          </a:p>
        </p:txBody>
      </p:sp>
      <p:sp>
        <p:nvSpPr>
          <p:cNvPr id="12" name="Rectangle 11"/>
          <p:cNvSpPr/>
          <p:nvPr/>
        </p:nvSpPr>
        <p:spPr>
          <a:xfrm>
            <a:off x="685800" y="1298448"/>
            <a:ext cx="3547872" cy="1938528"/>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6" y="1408176"/>
            <a:ext cx="3291840" cy="1719072"/>
          </a:xfrm>
          <a:prstGeom prst="rect">
            <a:avLst/>
          </a:prstGeom>
          <a:noFill/>
        </p:spPr>
        <p:txBody>
          <a:bodyPr wrap="square"/>
          <a:lstStyle/>
          <a:p>
            <a:pPr algn="l"/>
            <a:r>
              <a:rPr sz="950" b="0" i="0">
                <a:solidFill>
                  <a:srgbClr val="111827"/>
                </a:solidFill>
                <a:latin typeface="Calibri"/>
              </a:rPr>
              <a:t>Structured access to Skyscanner's travel content as the foundation layer for DIS Travel's intelligence:</a:t>
            </a:r>
          </a:p>
          <a:p>
            <a:pPr algn="l"/>
            <a:r>
              <a:rPr sz="950" b="0" i="0">
                <a:solidFill>
                  <a:srgbClr val="111827"/>
                </a:solidFill>
                <a:latin typeface="Calibri"/>
              </a:rPr>
              <a:t/>
            </a:r>
          </a:p>
          <a:p>
            <a:pPr algn="l"/>
            <a:r>
              <a:rPr sz="950" b="0" i="0">
                <a:solidFill>
                  <a:srgbClr val="111827"/>
                </a:solidFill>
                <a:latin typeface="Calibri"/>
              </a:rPr>
              <a:t>·  Route and schedule data</a:t>
            </a:r>
          </a:p>
          <a:p>
            <a:pPr algn="l"/>
            <a:r>
              <a:rPr sz="950" b="0" i="0">
                <a:solidFill>
                  <a:srgbClr val="111827"/>
                </a:solidFill>
                <a:latin typeface="Calibri"/>
              </a:rPr>
              <a:t>·  Real-time pricing and availability</a:t>
            </a:r>
          </a:p>
          <a:p>
            <a:pPr algn="l"/>
            <a:r>
              <a:rPr sz="950" b="0" i="0">
                <a:solidFill>
                  <a:srgbClr val="111827"/>
                </a:solidFill>
                <a:latin typeface="Calibri"/>
              </a:rPr>
              <a:t>·  Aircraft type per route (ICAO carbon)</a:t>
            </a:r>
          </a:p>
          <a:p>
            <a:pPr algn="l"/>
            <a:r>
              <a:rPr sz="950" b="0" i="0">
                <a:solidFill>
                  <a:srgbClr val="111827"/>
                </a:solidFill>
                <a:latin typeface="Calibri"/>
              </a:rPr>
              <a:t>·  Historical fare patterns</a:t>
            </a:r>
          </a:p>
        </p:txBody>
      </p:sp>
      <p:sp>
        <p:nvSpPr>
          <p:cNvPr id="14" name="Rectangle 13"/>
          <p:cNvSpPr/>
          <p:nvPr/>
        </p:nvSpPr>
        <p:spPr>
          <a:xfrm>
            <a:off x="4398264" y="877824"/>
            <a:ext cx="3547872" cy="420624"/>
          </a:xfrm>
          <a:prstGeom prst="rect">
            <a:avLst/>
          </a:prstGeom>
          <a:solidFill>
            <a:srgbClr val="025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932688"/>
            <a:ext cx="3328416" cy="329184"/>
          </a:xfrm>
          <a:prstGeom prst="rect">
            <a:avLst/>
          </a:prstGeom>
          <a:noFill/>
        </p:spPr>
        <p:txBody>
          <a:bodyPr wrap="square"/>
          <a:lstStyle/>
          <a:p>
            <a:pPr algn="l"/>
            <a:r>
              <a:rPr sz="1000" b="1" i="0">
                <a:solidFill>
                  <a:srgbClr val="FFFFFF"/>
                </a:solidFill>
                <a:latin typeface="Calibri"/>
              </a:rPr>
              <a:t>02  DISTRIBUTION ALIGNMENT</a:t>
            </a:r>
          </a:p>
        </p:txBody>
      </p:sp>
      <p:sp>
        <p:nvSpPr>
          <p:cNvPr id="16" name="Rectangle 15"/>
          <p:cNvSpPr/>
          <p:nvPr/>
        </p:nvSpPr>
        <p:spPr>
          <a:xfrm>
            <a:off x="4398264" y="1298448"/>
            <a:ext cx="3547872" cy="1938528"/>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1408176"/>
            <a:ext cx="3291840" cy="1719072"/>
          </a:xfrm>
          <a:prstGeom prst="rect">
            <a:avLst/>
          </a:prstGeom>
          <a:noFill/>
        </p:spPr>
        <p:txBody>
          <a:bodyPr wrap="square"/>
          <a:lstStyle/>
          <a:p>
            <a:pPr algn="l"/>
            <a:r>
              <a:rPr sz="950" b="0" i="0">
                <a:solidFill>
                  <a:srgbClr val="111827"/>
                </a:solidFill>
                <a:latin typeface="Calibri"/>
              </a:rPr>
              <a:t>When DIS Travel intelligence drives a booking decision, the booking connects to Skyscanner's supplier network.</a:t>
            </a:r>
          </a:p>
          <a:p>
            <a:pPr algn="l"/>
            <a:r>
              <a:rPr sz="950" b="0" i="0">
                <a:solidFill>
                  <a:srgbClr val="111827"/>
                </a:solidFill>
                <a:latin typeface="Calibri"/>
              </a:rPr>
              <a:t/>
            </a:r>
          </a:p>
          <a:p>
            <a:pPr algn="l"/>
            <a:r>
              <a:rPr sz="950" b="0" i="0">
                <a:solidFill>
                  <a:srgbClr val="111827"/>
                </a:solidFill>
                <a:latin typeface="Calibri"/>
              </a:rPr>
              <a:t>Corporate bookings via intelligence tools represent high-intent, context-rich transactions — distinct from consumer metasearch traffic.</a:t>
            </a:r>
          </a:p>
        </p:txBody>
      </p:sp>
      <p:sp>
        <p:nvSpPr>
          <p:cNvPr id="18" name="Rectangle 17"/>
          <p:cNvSpPr/>
          <p:nvPr/>
        </p:nvSpPr>
        <p:spPr>
          <a:xfrm>
            <a:off x="8110728" y="877824"/>
            <a:ext cx="3547872" cy="420624"/>
          </a:xfrm>
          <a:prstGeom prst="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0456" y="932688"/>
            <a:ext cx="3328416" cy="329184"/>
          </a:xfrm>
          <a:prstGeom prst="rect">
            <a:avLst/>
          </a:prstGeom>
          <a:noFill/>
        </p:spPr>
        <p:txBody>
          <a:bodyPr wrap="square"/>
          <a:lstStyle/>
          <a:p>
            <a:pPr algn="l"/>
            <a:r>
              <a:rPr sz="1000" b="1" i="0">
                <a:solidFill>
                  <a:srgbClr val="FFFFFF"/>
                </a:solidFill>
                <a:latin typeface="Calibri"/>
              </a:rPr>
              <a:t>03  CARBON DATA COLLABORATION</a:t>
            </a:r>
          </a:p>
        </p:txBody>
      </p:sp>
      <p:sp>
        <p:nvSpPr>
          <p:cNvPr id="20" name="Rectangle 19"/>
          <p:cNvSpPr/>
          <p:nvPr/>
        </p:nvSpPr>
        <p:spPr>
          <a:xfrm>
            <a:off x="8110728" y="1298448"/>
            <a:ext cx="3547872" cy="1938528"/>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1408176"/>
            <a:ext cx="3291840" cy="1719072"/>
          </a:xfrm>
          <a:prstGeom prst="rect">
            <a:avLst/>
          </a:prstGeom>
          <a:noFill/>
        </p:spPr>
        <p:txBody>
          <a:bodyPr wrap="square"/>
          <a:lstStyle/>
          <a:p>
            <a:pPr algn="l"/>
            <a:r>
              <a:rPr sz="950" b="0" i="0">
                <a:solidFill>
                  <a:srgbClr val="111827"/>
                </a:solidFill>
                <a:latin typeface="Calibri"/>
              </a:rPr>
              <a:t>Co-development of route-level carbon intelligence anchored in Skyscanner's route and aircraft data, validated against ICAO/GHG Protocol methodology.</a:t>
            </a:r>
          </a:p>
          <a:p>
            <a:pPr algn="l"/>
            <a:r>
              <a:rPr sz="950" b="0" i="0">
                <a:solidFill>
                  <a:srgbClr val="111827"/>
                </a:solidFill>
                <a:latin typeface="Calibri"/>
              </a:rPr>
              <a:t/>
            </a:r>
          </a:p>
          <a:p>
            <a:pPr algn="l"/>
            <a:r>
              <a:rPr sz="950" b="0" i="0">
                <a:solidFill>
                  <a:srgbClr val="111827"/>
                </a:solidFill>
                <a:latin typeface="Calibri"/>
              </a:rPr>
              <a:t>Neither organisation can build this at the same accuracy independently.</a:t>
            </a:r>
          </a:p>
        </p:txBody>
      </p:sp>
      <p:sp>
        <p:nvSpPr>
          <p:cNvPr id="22" name="TextBox 21"/>
          <p:cNvSpPr txBox="1"/>
          <p:nvPr/>
        </p:nvSpPr>
        <p:spPr>
          <a:xfrm>
            <a:off x="685800" y="3438144"/>
            <a:ext cx="10820095" cy="256032"/>
          </a:xfrm>
          <a:prstGeom prst="rect">
            <a:avLst/>
          </a:prstGeom>
          <a:noFill/>
        </p:spPr>
        <p:txBody>
          <a:bodyPr wrap="square"/>
          <a:lstStyle/>
          <a:p>
            <a:pPr algn="l"/>
            <a:r>
              <a:rPr sz="850" b="1" i="0">
                <a:solidFill>
                  <a:srgbClr val="2563EB"/>
                </a:solidFill>
                <a:latin typeface="Calibri"/>
              </a:rPr>
              <a:t>INDICATIVE PARTNERSHIP TIMELINE</a:t>
            </a:r>
          </a:p>
        </p:txBody>
      </p:sp>
      <p:sp>
        <p:nvSpPr>
          <p:cNvPr id="23" name="Rectangle 22"/>
          <p:cNvSpPr/>
          <p:nvPr/>
        </p:nvSpPr>
        <p:spPr>
          <a:xfrm>
            <a:off x="685800" y="3712464"/>
            <a:ext cx="2194560" cy="393192"/>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3776472"/>
            <a:ext cx="2084832" cy="301752"/>
          </a:xfrm>
          <a:prstGeom prst="rect">
            <a:avLst/>
          </a:prstGeom>
          <a:noFill/>
        </p:spPr>
        <p:txBody>
          <a:bodyPr wrap="square"/>
          <a:lstStyle/>
          <a:p>
            <a:pPr algn="l"/>
            <a:r>
              <a:rPr sz="950" b="1" i="0">
                <a:solidFill>
                  <a:srgbClr val="FFFFFF"/>
                </a:solidFill>
                <a:latin typeface="Calibri"/>
              </a:rPr>
              <a:t>Phase</a:t>
            </a:r>
          </a:p>
        </p:txBody>
      </p:sp>
      <p:sp>
        <p:nvSpPr>
          <p:cNvPr id="25" name="Rectangle 24"/>
          <p:cNvSpPr/>
          <p:nvPr/>
        </p:nvSpPr>
        <p:spPr>
          <a:xfrm>
            <a:off x="2880360" y="3712464"/>
            <a:ext cx="2286000" cy="393192"/>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71800" y="3776472"/>
            <a:ext cx="2176272" cy="301752"/>
          </a:xfrm>
          <a:prstGeom prst="rect">
            <a:avLst/>
          </a:prstGeom>
          <a:noFill/>
        </p:spPr>
        <p:txBody>
          <a:bodyPr wrap="square"/>
          <a:lstStyle/>
          <a:p>
            <a:pPr algn="l"/>
            <a:r>
              <a:rPr sz="950" b="1" i="0">
                <a:solidFill>
                  <a:srgbClr val="FFFFFF"/>
                </a:solidFill>
                <a:latin typeface="Calibri"/>
              </a:rPr>
              <a:t>Period</a:t>
            </a:r>
          </a:p>
        </p:txBody>
      </p:sp>
      <p:sp>
        <p:nvSpPr>
          <p:cNvPr id="27" name="Rectangle 26"/>
          <p:cNvSpPr/>
          <p:nvPr/>
        </p:nvSpPr>
        <p:spPr>
          <a:xfrm>
            <a:off x="5166360" y="3712464"/>
            <a:ext cx="6400800" cy="393192"/>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57800" y="3776472"/>
            <a:ext cx="6291072" cy="301752"/>
          </a:xfrm>
          <a:prstGeom prst="rect">
            <a:avLst/>
          </a:prstGeom>
          <a:noFill/>
        </p:spPr>
        <p:txBody>
          <a:bodyPr wrap="square"/>
          <a:lstStyle/>
          <a:p>
            <a:pPr algn="l"/>
            <a:r>
              <a:rPr sz="950" b="1" i="0">
                <a:solidFill>
                  <a:srgbClr val="FFFFFF"/>
                </a:solidFill>
                <a:latin typeface="Calibri"/>
              </a:rPr>
              <a:t>Milestone</a:t>
            </a:r>
          </a:p>
        </p:txBody>
      </p:sp>
      <p:sp>
        <p:nvSpPr>
          <p:cNvPr id="29" name="Rectangle 28"/>
          <p:cNvSpPr/>
          <p:nvPr/>
        </p:nvSpPr>
        <p:spPr>
          <a:xfrm>
            <a:off x="685800" y="4105656"/>
            <a:ext cx="219456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4169664"/>
            <a:ext cx="2084832" cy="301752"/>
          </a:xfrm>
          <a:prstGeom prst="rect">
            <a:avLst/>
          </a:prstGeom>
          <a:noFill/>
        </p:spPr>
        <p:txBody>
          <a:bodyPr wrap="square"/>
          <a:lstStyle/>
          <a:p>
            <a:pPr algn="l"/>
            <a:r>
              <a:rPr sz="950" b="1" i="0">
                <a:solidFill>
                  <a:srgbClr val="0E2C54"/>
                </a:solidFill>
                <a:latin typeface="Calibri"/>
              </a:rPr>
              <a:t>Exploratory</a:t>
            </a:r>
          </a:p>
        </p:txBody>
      </p:sp>
      <p:sp>
        <p:nvSpPr>
          <p:cNvPr id="31" name="Rectangle 30"/>
          <p:cNvSpPr/>
          <p:nvPr/>
        </p:nvSpPr>
        <p:spPr>
          <a:xfrm>
            <a:off x="2880360" y="4105656"/>
            <a:ext cx="228600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71800" y="4169664"/>
            <a:ext cx="2176272" cy="301752"/>
          </a:xfrm>
          <a:prstGeom prst="rect">
            <a:avLst/>
          </a:prstGeom>
          <a:noFill/>
        </p:spPr>
        <p:txBody>
          <a:bodyPr wrap="square"/>
          <a:lstStyle/>
          <a:p>
            <a:pPr algn="l"/>
            <a:r>
              <a:rPr sz="950" b="0" i="0">
                <a:solidFill>
                  <a:srgbClr val="111827"/>
                </a:solidFill>
                <a:latin typeface="Calibri"/>
              </a:rPr>
              <a:t>Q3–Q4 2026</a:t>
            </a:r>
          </a:p>
        </p:txBody>
      </p:sp>
      <p:sp>
        <p:nvSpPr>
          <p:cNvPr id="33" name="Rectangle 32"/>
          <p:cNvSpPr/>
          <p:nvPr/>
        </p:nvSpPr>
        <p:spPr>
          <a:xfrm>
            <a:off x="5166360" y="4105656"/>
            <a:ext cx="640080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57800" y="4169664"/>
            <a:ext cx="6291072" cy="301752"/>
          </a:xfrm>
          <a:prstGeom prst="rect">
            <a:avLst/>
          </a:prstGeom>
          <a:noFill/>
        </p:spPr>
        <p:txBody>
          <a:bodyPr wrap="square"/>
          <a:lstStyle/>
          <a:p>
            <a:pPr algn="l"/>
            <a:r>
              <a:rPr sz="950" b="0" i="0">
                <a:solidFill>
                  <a:srgbClr val="111827"/>
                </a:solidFill>
                <a:latin typeface="Calibri"/>
              </a:rPr>
              <a:t>Leadership and technical conversations; assess strategic fit</a:t>
            </a:r>
          </a:p>
        </p:txBody>
      </p:sp>
      <p:sp>
        <p:nvSpPr>
          <p:cNvPr id="35" name="Rectangle 34"/>
          <p:cNvSpPr/>
          <p:nvPr/>
        </p:nvSpPr>
        <p:spPr>
          <a:xfrm>
            <a:off x="685800" y="4498848"/>
            <a:ext cx="2194560" cy="3931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4562856"/>
            <a:ext cx="2084832" cy="301752"/>
          </a:xfrm>
          <a:prstGeom prst="rect">
            <a:avLst/>
          </a:prstGeom>
          <a:noFill/>
        </p:spPr>
        <p:txBody>
          <a:bodyPr wrap="square"/>
          <a:lstStyle/>
          <a:p>
            <a:pPr algn="l"/>
            <a:r>
              <a:rPr sz="950" b="1" i="0">
                <a:solidFill>
                  <a:srgbClr val="0E2C54"/>
                </a:solidFill>
                <a:latin typeface="Calibri"/>
              </a:rPr>
              <a:t>Partnership Design</a:t>
            </a:r>
          </a:p>
        </p:txBody>
      </p:sp>
      <p:sp>
        <p:nvSpPr>
          <p:cNvPr id="37" name="Rectangle 36"/>
          <p:cNvSpPr/>
          <p:nvPr/>
        </p:nvSpPr>
        <p:spPr>
          <a:xfrm>
            <a:off x="2880360" y="4498848"/>
            <a:ext cx="2286000" cy="3931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71800" y="4562856"/>
            <a:ext cx="2176272" cy="301752"/>
          </a:xfrm>
          <a:prstGeom prst="rect">
            <a:avLst/>
          </a:prstGeom>
          <a:noFill/>
        </p:spPr>
        <p:txBody>
          <a:bodyPr wrap="square"/>
          <a:lstStyle/>
          <a:p>
            <a:pPr algn="l"/>
            <a:r>
              <a:rPr sz="950" b="0" i="0">
                <a:solidFill>
                  <a:srgbClr val="111827"/>
                </a:solidFill>
                <a:latin typeface="Calibri"/>
              </a:rPr>
              <a:t>Q4 2026 – Q1 2027</a:t>
            </a:r>
          </a:p>
        </p:txBody>
      </p:sp>
      <p:sp>
        <p:nvSpPr>
          <p:cNvPr id="39" name="Rectangle 38"/>
          <p:cNvSpPr/>
          <p:nvPr/>
        </p:nvSpPr>
        <p:spPr>
          <a:xfrm>
            <a:off x="5166360" y="4498848"/>
            <a:ext cx="6400800" cy="3931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57800" y="4562856"/>
            <a:ext cx="6291072" cy="301752"/>
          </a:xfrm>
          <a:prstGeom prst="rect">
            <a:avLst/>
          </a:prstGeom>
          <a:noFill/>
        </p:spPr>
        <p:txBody>
          <a:bodyPr wrap="square"/>
          <a:lstStyle/>
          <a:p>
            <a:pPr algn="l"/>
            <a:r>
              <a:rPr sz="950" b="0" i="0">
                <a:solidFill>
                  <a:srgbClr val="111827"/>
                </a:solidFill>
                <a:latin typeface="Calibri"/>
              </a:rPr>
              <a:t>Commercial structure, data agreement, technical specification</a:t>
            </a:r>
          </a:p>
        </p:txBody>
      </p:sp>
      <p:sp>
        <p:nvSpPr>
          <p:cNvPr id="41" name="Rectangle 40"/>
          <p:cNvSpPr/>
          <p:nvPr/>
        </p:nvSpPr>
        <p:spPr>
          <a:xfrm>
            <a:off x="685800" y="4892040"/>
            <a:ext cx="219456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7240" y="4956048"/>
            <a:ext cx="2084832" cy="301752"/>
          </a:xfrm>
          <a:prstGeom prst="rect">
            <a:avLst/>
          </a:prstGeom>
          <a:noFill/>
        </p:spPr>
        <p:txBody>
          <a:bodyPr wrap="square"/>
          <a:lstStyle/>
          <a:p>
            <a:pPr algn="l"/>
            <a:r>
              <a:rPr sz="950" b="1" i="0">
                <a:solidFill>
                  <a:srgbClr val="0E2C54"/>
                </a:solidFill>
                <a:latin typeface="Calibri"/>
              </a:rPr>
              <a:t>Integration Build</a:t>
            </a:r>
          </a:p>
        </p:txBody>
      </p:sp>
      <p:sp>
        <p:nvSpPr>
          <p:cNvPr id="43" name="Rectangle 42"/>
          <p:cNvSpPr/>
          <p:nvPr/>
        </p:nvSpPr>
        <p:spPr>
          <a:xfrm>
            <a:off x="2880360" y="4892040"/>
            <a:ext cx="228600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71800" y="4956048"/>
            <a:ext cx="2176272" cy="301752"/>
          </a:xfrm>
          <a:prstGeom prst="rect">
            <a:avLst/>
          </a:prstGeom>
          <a:noFill/>
        </p:spPr>
        <p:txBody>
          <a:bodyPr wrap="square"/>
          <a:lstStyle/>
          <a:p>
            <a:pPr algn="l"/>
            <a:r>
              <a:rPr sz="950" b="0" i="0">
                <a:solidFill>
                  <a:srgbClr val="111827"/>
                </a:solidFill>
                <a:latin typeface="Calibri"/>
              </a:rPr>
              <a:t>Q1–Q2 2027</a:t>
            </a:r>
          </a:p>
        </p:txBody>
      </p:sp>
      <p:sp>
        <p:nvSpPr>
          <p:cNvPr id="45" name="Rectangle 44"/>
          <p:cNvSpPr/>
          <p:nvPr/>
        </p:nvSpPr>
        <p:spPr>
          <a:xfrm>
            <a:off x="5166360" y="4892040"/>
            <a:ext cx="640080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257800" y="4956048"/>
            <a:ext cx="6291072" cy="301752"/>
          </a:xfrm>
          <a:prstGeom prst="rect">
            <a:avLst/>
          </a:prstGeom>
          <a:noFill/>
        </p:spPr>
        <p:txBody>
          <a:bodyPr wrap="square"/>
          <a:lstStyle/>
          <a:p>
            <a:pPr algn="l"/>
            <a:r>
              <a:rPr sz="950" b="0" i="0">
                <a:solidFill>
                  <a:srgbClr val="111827"/>
                </a:solidFill>
                <a:latin typeface="Calibri"/>
              </a:rPr>
              <a:t>Data connection, integration testing, quality assurance</a:t>
            </a:r>
          </a:p>
        </p:txBody>
      </p:sp>
      <p:sp>
        <p:nvSpPr>
          <p:cNvPr id="47" name="Rectangle 46"/>
          <p:cNvSpPr/>
          <p:nvPr/>
        </p:nvSpPr>
        <p:spPr>
          <a:xfrm>
            <a:off x="685800" y="5285232"/>
            <a:ext cx="2194560" cy="3931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7240" y="5349240"/>
            <a:ext cx="2084832" cy="301752"/>
          </a:xfrm>
          <a:prstGeom prst="rect">
            <a:avLst/>
          </a:prstGeom>
          <a:noFill/>
        </p:spPr>
        <p:txBody>
          <a:bodyPr wrap="square"/>
          <a:lstStyle/>
          <a:p>
            <a:pPr algn="l"/>
            <a:r>
              <a:rPr sz="950" b="1" i="0">
                <a:solidFill>
                  <a:srgbClr val="0E2C54"/>
                </a:solidFill>
                <a:latin typeface="Calibri"/>
              </a:rPr>
              <a:t>Enterprise Pilot</a:t>
            </a:r>
          </a:p>
        </p:txBody>
      </p:sp>
      <p:sp>
        <p:nvSpPr>
          <p:cNvPr id="49" name="Rectangle 48"/>
          <p:cNvSpPr/>
          <p:nvPr/>
        </p:nvSpPr>
        <p:spPr>
          <a:xfrm>
            <a:off x="2880360" y="5285232"/>
            <a:ext cx="2286000" cy="3931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71800" y="5349240"/>
            <a:ext cx="2176272" cy="301752"/>
          </a:xfrm>
          <a:prstGeom prst="rect">
            <a:avLst/>
          </a:prstGeom>
          <a:noFill/>
        </p:spPr>
        <p:txBody>
          <a:bodyPr wrap="square"/>
          <a:lstStyle/>
          <a:p>
            <a:pPr algn="l"/>
            <a:r>
              <a:rPr sz="950" b="0" i="0">
                <a:solidFill>
                  <a:srgbClr val="111827"/>
                </a:solidFill>
                <a:latin typeface="Calibri"/>
              </a:rPr>
              <a:t>Q2–Q3 2027</a:t>
            </a:r>
          </a:p>
        </p:txBody>
      </p:sp>
      <p:sp>
        <p:nvSpPr>
          <p:cNvPr id="51" name="Rectangle 50"/>
          <p:cNvSpPr/>
          <p:nvPr/>
        </p:nvSpPr>
        <p:spPr>
          <a:xfrm>
            <a:off x="5166360" y="5285232"/>
            <a:ext cx="6400800" cy="393192"/>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257800" y="5349240"/>
            <a:ext cx="6291072" cy="301752"/>
          </a:xfrm>
          <a:prstGeom prst="rect">
            <a:avLst/>
          </a:prstGeom>
          <a:noFill/>
        </p:spPr>
        <p:txBody>
          <a:bodyPr wrap="square"/>
          <a:lstStyle/>
          <a:p>
            <a:pPr algn="l"/>
            <a:r>
              <a:rPr sz="950" b="0" i="0">
                <a:solidFill>
                  <a:srgbClr val="111827"/>
                </a:solidFill>
                <a:latin typeface="Calibri"/>
              </a:rPr>
              <a:t>First enterprise pilots with DIS Travel + Skyscanner content</a:t>
            </a:r>
          </a:p>
        </p:txBody>
      </p:sp>
      <p:sp>
        <p:nvSpPr>
          <p:cNvPr id="53" name="Rectangle 52"/>
          <p:cNvSpPr/>
          <p:nvPr/>
        </p:nvSpPr>
        <p:spPr>
          <a:xfrm>
            <a:off x="685800" y="5678424"/>
            <a:ext cx="219456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42432"/>
            <a:ext cx="2084832" cy="301752"/>
          </a:xfrm>
          <a:prstGeom prst="rect">
            <a:avLst/>
          </a:prstGeom>
          <a:noFill/>
        </p:spPr>
        <p:txBody>
          <a:bodyPr wrap="square"/>
          <a:lstStyle/>
          <a:p>
            <a:pPr algn="l"/>
            <a:r>
              <a:rPr sz="950" b="1" i="0">
                <a:solidFill>
                  <a:srgbClr val="0E2C54"/>
                </a:solidFill>
                <a:latin typeface="Calibri"/>
              </a:rPr>
              <a:t>Scale</a:t>
            </a:r>
          </a:p>
        </p:txBody>
      </p:sp>
      <p:sp>
        <p:nvSpPr>
          <p:cNvPr id="55" name="Rectangle 54"/>
          <p:cNvSpPr/>
          <p:nvPr/>
        </p:nvSpPr>
        <p:spPr>
          <a:xfrm>
            <a:off x="2880360" y="5678424"/>
            <a:ext cx="228600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71800" y="5742432"/>
            <a:ext cx="2176272" cy="301752"/>
          </a:xfrm>
          <a:prstGeom prst="rect">
            <a:avLst/>
          </a:prstGeom>
          <a:noFill/>
        </p:spPr>
        <p:txBody>
          <a:bodyPr wrap="square"/>
          <a:lstStyle/>
          <a:p>
            <a:pPr algn="l"/>
            <a:r>
              <a:rPr sz="950" b="0" i="0">
                <a:solidFill>
                  <a:srgbClr val="111827"/>
                </a:solidFill>
                <a:latin typeface="Calibri"/>
              </a:rPr>
              <a:t>2027–2028</a:t>
            </a:r>
          </a:p>
        </p:txBody>
      </p:sp>
      <p:sp>
        <p:nvSpPr>
          <p:cNvPr id="57" name="Rectangle 56"/>
          <p:cNvSpPr/>
          <p:nvPr/>
        </p:nvSpPr>
        <p:spPr>
          <a:xfrm>
            <a:off x="5166360" y="5678424"/>
            <a:ext cx="6400800" cy="393192"/>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257800" y="5742432"/>
            <a:ext cx="6291072" cy="301752"/>
          </a:xfrm>
          <a:prstGeom prst="rect">
            <a:avLst/>
          </a:prstGeom>
          <a:noFill/>
        </p:spPr>
        <p:txBody>
          <a:bodyPr wrap="square"/>
          <a:lstStyle/>
          <a:p>
            <a:pPr algn="l"/>
            <a:r>
              <a:rPr sz="950" b="0" i="0">
                <a:solidFill>
                  <a:srgbClr val="111827"/>
                </a:solidFill>
                <a:latin typeface="Calibri"/>
              </a:rPr>
              <a:t>Expand enterprise accounts; deepen integration</a:t>
            </a:r>
          </a:p>
        </p:txBody>
      </p:sp>
      <p:sp>
        <p:nvSpPr>
          <p:cNvPr id="59" name="TextBox 58"/>
          <p:cNvSpPr txBox="1"/>
          <p:nvPr/>
        </p:nvSpPr>
        <p:spPr>
          <a:xfrm>
            <a:off x="685800" y="6153912"/>
            <a:ext cx="10820095" cy="256032"/>
          </a:xfrm>
          <a:prstGeom prst="rect">
            <a:avLst/>
          </a:prstGeom>
          <a:noFill/>
        </p:spPr>
        <p:txBody>
          <a:bodyPr wrap="square"/>
          <a:lstStyle/>
          <a:p>
            <a:pPr algn="l"/>
            <a:r>
              <a:rPr sz="850" b="0" i="1">
                <a:solidFill>
                  <a:srgbClr val="6B7280"/>
                </a:solidFill>
                <a:latin typeface="Calibri"/>
              </a:rPr>
              <a:t>Timeline is indicative — subject to partnership discussion. We are not proposing Skyscanner commit to anything before the strategic fit is established.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11</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Why DIS Group as a Long-Term Partner</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11 / 12</a:t>
            </a:r>
          </a:p>
        </p:txBody>
      </p:sp>
      <p:sp>
        <p:nvSpPr>
          <p:cNvPr id="10" name="TextBox 9"/>
          <p:cNvSpPr txBox="1"/>
          <p:nvPr/>
        </p:nvSpPr>
        <p:spPr>
          <a:xfrm>
            <a:off x="685800" y="822960"/>
            <a:ext cx="10820095" cy="320040"/>
          </a:xfrm>
          <a:prstGeom prst="rect">
            <a:avLst/>
          </a:prstGeom>
          <a:noFill/>
        </p:spPr>
        <p:txBody>
          <a:bodyPr wrap="square"/>
          <a:lstStyle/>
          <a:p>
            <a:pPr algn="l"/>
            <a:r>
              <a:rPr sz="1100" b="0" i="1">
                <a:solidFill>
                  <a:srgbClr val="6B7280"/>
                </a:solidFill>
                <a:latin typeface="Calibri"/>
              </a:rPr>
              <a:t>The question enterprise partners ask is not whether the product idea is interesting. It is whether the team behind it can execute.</a:t>
            </a:r>
          </a:p>
        </p:txBody>
      </p:sp>
      <p:sp>
        <p:nvSpPr>
          <p:cNvPr id="11" name="Rectangle 10"/>
          <p:cNvSpPr/>
          <p:nvPr/>
        </p:nvSpPr>
        <p:spPr>
          <a:xfrm>
            <a:off x="685800" y="1225296"/>
            <a:ext cx="3547872" cy="402336"/>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 y="1280160"/>
            <a:ext cx="3291840" cy="310896"/>
          </a:xfrm>
          <a:prstGeom prst="rect">
            <a:avLst/>
          </a:prstGeom>
          <a:noFill/>
        </p:spPr>
        <p:txBody>
          <a:bodyPr wrap="square"/>
          <a:lstStyle/>
          <a:p>
            <a:pPr algn="l"/>
            <a:r>
              <a:rPr sz="1000" b="1" i="0">
                <a:solidFill>
                  <a:srgbClr val="FFFFFF"/>
                </a:solidFill>
                <a:latin typeface="Calibri"/>
              </a:rPr>
              <a:t>OPERATING FOUNDATION</a:t>
            </a:r>
          </a:p>
        </p:txBody>
      </p:sp>
      <p:sp>
        <p:nvSpPr>
          <p:cNvPr id="13" name="Rectangle 12"/>
          <p:cNvSpPr/>
          <p:nvPr/>
        </p:nvSpPr>
        <p:spPr>
          <a:xfrm>
            <a:off x="685800" y="1627632"/>
            <a:ext cx="3547872" cy="4261104"/>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 y="1755648"/>
            <a:ext cx="3255264" cy="4023360"/>
          </a:xfrm>
          <a:prstGeom prst="rect">
            <a:avLst/>
          </a:prstGeom>
          <a:noFill/>
        </p:spPr>
        <p:txBody>
          <a:bodyPr wrap="square"/>
          <a:lstStyle/>
          <a:p>
            <a:pPr algn="l"/>
            <a:r>
              <a:rPr sz="950" b="0" i="0">
                <a:solidFill>
                  <a:srgbClr val="111827"/>
                </a:solidFill>
                <a:latin typeface="Calibri"/>
              </a:rPr>
              <a:t>DIS Group is not a startup built around a founding pitch.</a:t>
            </a:r>
          </a:p>
          <a:p>
            <a:pPr algn="l"/>
            <a:r>
              <a:rPr sz="950" b="0" i="0">
                <a:solidFill>
                  <a:srgbClr val="111827"/>
                </a:solidFill>
                <a:latin typeface="Calibri"/>
              </a:rPr>
              <a:t/>
            </a:r>
          </a:p>
          <a:p>
            <a:pPr algn="l"/>
            <a:r>
              <a:rPr sz="950" b="0" i="0">
                <a:solidFill>
                  <a:srgbClr val="111827"/>
                </a:solidFill>
                <a:latin typeface="Calibri"/>
              </a:rPr>
              <a:t>We operate three businesses today — in recycling operations, energy trading intelligence, and ESG data infrastructure.</a:t>
            </a:r>
          </a:p>
          <a:p>
            <a:pPr algn="l"/>
            <a:r>
              <a:rPr sz="950" b="0" i="0">
                <a:solidFill>
                  <a:srgbClr val="111827"/>
                </a:solidFill>
                <a:latin typeface="Calibri"/>
              </a:rPr>
              <a:t/>
            </a:r>
          </a:p>
          <a:p>
            <a:pPr algn="l"/>
            <a:r>
              <a:rPr sz="950" b="0" i="0">
                <a:solidFill>
                  <a:srgbClr val="111827"/>
                </a:solidFill>
                <a:latin typeface="Calibri"/>
              </a:rPr>
              <a:t>The governance frameworks and technology standards governing DIS Travel are adapted from frameworks operational in those businesses.</a:t>
            </a:r>
          </a:p>
          <a:p>
            <a:pPr algn="l"/>
            <a:r>
              <a:rPr sz="950" b="0" i="0">
                <a:solidFill>
                  <a:srgbClr val="111827"/>
                </a:solidFill>
                <a:latin typeface="Calibri"/>
              </a:rPr>
              <a:t/>
            </a:r>
          </a:p>
          <a:p>
            <a:pPr algn="l"/>
            <a:r>
              <a:rPr sz="950" b="0" i="0">
                <a:solidFill>
                  <a:srgbClr val="111827"/>
                </a:solidFill>
                <a:latin typeface="Calibri"/>
              </a:rPr>
              <a:t>DIS Travel is the application of a proven development discipline to a new market — not a first attempt at building something complex.</a:t>
            </a:r>
          </a:p>
        </p:txBody>
      </p:sp>
      <p:sp>
        <p:nvSpPr>
          <p:cNvPr id="15" name="Rectangle 14"/>
          <p:cNvSpPr/>
          <p:nvPr/>
        </p:nvSpPr>
        <p:spPr>
          <a:xfrm>
            <a:off x="4398264" y="1225296"/>
            <a:ext cx="3547872" cy="402336"/>
          </a:xfrm>
          <a:prstGeom prst="rect">
            <a:avLst/>
          </a:prstGeom>
          <a:solidFill>
            <a:srgbClr val="025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280160"/>
            <a:ext cx="3291840" cy="310896"/>
          </a:xfrm>
          <a:prstGeom prst="rect">
            <a:avLst/>
          </a:prstGeom>
          <a:noFill/>
        </p:spPr>
        <p:txBody>
          <a:bodyPr wrap="square"/>
          <a:lstStyle/>
          <a:p>
            <a:pPr algn="l"/>
            <a:r>
              <a:rPr sz="1000" b="1" i="0">
                <a:solidFill>
                  <a:srgbClr val="FFFFFF"/>
                </a:solidFill>
                <a:latin typeface="Calibri"/>
              </a:rPr>
              <a:t>GOVERNANCE YOU CAN AUDIT</a:t>
            </a:r>
          </a:p>
        </p:txBody>
      </p:sp>
      <p:sp>
        <p:nvSpPr>
          <p:cNvPr id="17" name="Rectangle 16"/>
          <p:cNvSpPr/>
          <p:nvPr/>
        </p:nvSpPr>
        <p:spPr>
          <a:xfrm>
            <a:off x="4398264" y="1627632"/>
            <a:ext cx="3547872" cy="4261104"/>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44568" y="1755648"/>
            <a:ext cx="3255264" cy="4023360"/>
          </a:xfrm>
          <a:prstGeom prst="rect">
            <a:avLst/>
          </a:prstGeom>
          <a:noFill/>
        </p:spPr>
        <p:txBody>
          <a:bodyPr wrap="square"/>
          <a:lstStyle/>
          <a:p>
            <a:pPr algn="l"/>
            <a:r>
              <a:rPr sz="950" b="0" i="0">
                <a:solidFill>
                  <a:srgbClr val="111827"/>
                </a:solidFill>
                <a:latin typeface="Calibri"/>
              </a:rPr>
              <a:t>Our technology governance is operational today:</a:t>
            </a:r>
          </a:p>
          <a:p>
            <a:pPr algn="l"/>
            <a:r>
              <a:rPr sz="950" b="0" i="0">
                <a:solidFill>
                  <a:srgbClr val="111827"/>
                </a:solidFill>
                <a:latin typeface="Calibri"/>
              </a:rPr>
              <a:t/>
            </a:r>
          </a:p>
          <a:p>
            <a:pPr algn="l"/>
            <a:r>
              <a:rPr sz="950" b="0" i="0">
                <a:solidFill>
                  <a:srgbClr val="111827"/>
                </a:solidFill>
                <a:latin typeface="Calibri"/>
              </a:rPr>
              <a:t>·  AI governance policy — four-class risk classification, pre-deployment review, incident response</a:t>
            </a:r>
          </a:p>
          <a:p>
            <a:pPr algn="l"/>
            <a:r>
              <a:rPr sz="950" b="0" i="0">
                <a:solidFill>
                  <a:srgbClr val="111827"/>
                </a:solidFill>
                <a:latin typeface="Calibri"/>
              </a:rPr>
              <a:t/>
            </a:r>
          </a:p>
          <a:p>
            <a:pPr algn="l"/>
            <a:r>
              <a:rPr sz="950" b="0" i="0">
                <a:solidFill>
                  <a:srgbClr val="111827"/>
                </a:solidFill>
                <a:latin typeface="Calibri"/>
              </a:rPr>
              <a:t>·  Architecture decisions via ADRs — documented rationale for every major choice</a:t>
            </a:r>
          </a:p>
          <a:p>
            <a:pPr algn="l"/>
            <a:r>
              <a:rPr sz="950" b="0" i="0">
                <a:solidFill>
                  <a:srgbClr val="111827"/>
                </a:solidFill>
                <a:latin typeface="Calibri"/>
              </a:rPr>
              <a:t/>
            </a:r>
          </a:p>
          <a:p>
            <a:pPr algn="l"/>
            <a:r>
              <a:rPr sz="950" b="0" i="0">
                <a:solidFill>
                  <a:srgbClr val="111827"/>
                </a:solidFill>
                <a:latin typeface="Calibri"/>
              </a:rPr>
              <a:t>·  GDPR compliance — EU-incorporated, EU data residency capability, enterprise DPA-ready</a:t>
            </a:r>
          </a:p>
          <a:p>
            <a:pPr algn="l"/>
            <a:r>
              <a:rPr sz="950" b="0" i="0">
                <a:solidFill>
                  <a:srgbClr val="111827"/>
                </a:solidFill>
                <a:latin typeface="Calibri"/>
              </a:rPr>
              <a:t/>
            </a:r>
          </a:p>
          <a:p>
            <a:pPr algn="l"/>
            <a:r>
              <a:rPr sz="950" b="0" i="0">
                <a:solidFill>
                  <a:srgbClr val="111827"/>
                </a:solidFill>
                <a:latin typeface="Calibri"/>
              </a:rPr>
              <a:t>·  Published documentation — available to share, not just to describe</a:t>
            </a:r>
          </a:p>
        </p:txBody>
      </p:sp>
      <p:sp>
        <p:nvSpPr>
          <p:cNvPr id="19" name="Rectangle 18"/>
          <p:cNvSpPr/>
          <p:nvPr/>
        </p:nvSpPr>
        <p:spPr>
          <a:xfrm>
            <a:off x="8110728" y="1225296"/>
            <a:ext cx="3547872" cy="402336"/>
          </a:xfrm>
          <a:prstGeom prst="rect">
            <a:avLst/>
          </a:prstGeom>
          <a:solidFill>
            <a:srgbClr val="581C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38744" y="1280160"/>
            <a:ext cx="3291840" cy="310896"/>
          </a:xfrm>
          <a:prstGeom prst="rect">
            <a:avLst/>
          </a:prstGeom>
          <a:noFill/>
        </p:spPr>
        <p:txBody>
          <a:bodyPr wrap="square"/>
          <a:lstStyle/>
          <a:p>
            <a:pPr algn="l"/>
            <a:r>
              <a:rPr sz="1000" b="1" i="0">
                <a:solidFill>
                  <a:srgbClr val="FFFFFF"/>
                </a:solidFill>
                <a:latin typeface="Calibri"/>
              </a:rPr>
              <a:t>TRANSPARENCY AS PRACTICE</a:t>
            </a:r>
          </a:p>
        </p:txBody>
      </p:sp>
      <p:sp>
        <p:nvSpPr>
          <p:cNvPr id="21" name="Rectangle 20"/>
          <p:cNvSpPr/>
          <p:nvPr/>
        </p:nvSpPr>
        <p:spPr>
          <a:xfrm>
            <a:off x="8110728" y="1627632"/>
            <a:ext cx="3547872" cy="4261104"/>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2" y="1755648"/>
            <a:ext cx="3255264" cy="4023360"/>
          </a:xfrm>
          <a:prstGeom prst="rect">
            <a:avLst/>
          </a:prstGeom>
          <a:noFill/>
        </p:spPr>
        <p:txBody>
          <a:bodyPr wrap="square"/>
          <a:lstStyle/>
          <a:p>
            <a:pPr algn="l"/>
            <a:r>
              <a:rPr sz="950" b="0" i="0">
                <a:solidFill>
                  <a:srgbClr val="111827"/>
                </a:solidFill>
                <a:latin typeface="Calibri"/>
              </a:rPr>
              <a:t>Every document in this package is honest about where we are.</a:t>
            </a:r>
          </a:p>
          <a:p>
            <a:pPr algn="l"/>
            <a:r>
              <a:rPr sz="950" b="0" i="0">
                <a:solidFill>
                  <a:srgbClr val="111827"/>
                </a:solidFill>
                <a:latin typeface="Calibri"/>
              </a:rPr>
              <a:t/>
            </a:r>
          </a:p>
          <a:p>
            <a:pPr algn="l"/>
            <a:r>
              <a:rPr sz="950" b="0" i="0">
                <a:solidFill>
                  <a:srgbClr val="111827"/>
                </a:solidFill>
                <a:latin typeface="Calibri"/>
              </a:rPr>
              <a:t>Our development status table shows clearly what is complete, in progress, and designed-but-not-built.</a:t>
            </a:r>
          </a:p>
          <a:p>
            <a:pPr algn="l"/>
            <a:r>
              <a:rPr sz="950" b="0" i="0">
                <a:solidFill>
                  <a:srgbClr val="111827"/>
                </a:solidFill>
                <a:latin typeface="Calibri"/>
              </a:rPr>
              <a:t/>
            </a:r>
          </a:p>
          <a:p>
            <a:pPr algn="l"/>
            <a:r>
              <a:rPr sz="950" b="0" i="0">
                <a:solidFill>
                  <a:srgbClr val="111827"/>
                </a:solidFill>
                <a:latin typeface="Calibri"/>
              </a:rPr>
              <a:t>We do not claim customers we do not have or revenues we have not earned.</a:t>
            </a:r>
          </a:p>
          <a:p>
            <a:pPr algn="l"/>
            <a:r>
              <a:rPr sz="950" b="0" i="0">
                <a:solidFill>
                  <a:srgbClr val="111827"/>
                </a:solidFill>
                <a:latin typeface="Calibri"/>
              </a:rPr>
              <a:t/>
            </a:r>
          </a:p>
          <a:p>
            <a:pPr algn="l"/>
            <a:r>
              <a:rPr sz="950" b="0" i="0">
                <a:solidFill>
                  <a:srgbClr val="111827"/>
                </a:solidFill>
                <a:latin typeface="Calibri"/>
              </a:rPr>
              <a:t>The most enduring technology partnerships are built on accurate mutual understanding — and that is the basis on which we are approaching this conversation.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1323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 y="128016"/>
            <a:ext cx="411480" cy="475488"/>
          </a:xfrm>
          <a:prstGeom prst="rect">
            <a:avLst/>
          </a:prstGeom>
          <a:noFill/>
        </p:spPr>
        <p:txBody>
          <a:bodyPr wrap="square"/>
          <a:lstStyle/>
          <a:p>
            <a:pPr algn="ctr"/>
            <a:r>
              <a:rPr sz="1300" b="1" i="0">
                <a:solidFill>
                  <a:srgbClr val="FFFFFF"/>
                </a:solidFill>
                <a:latin typeface="Calibri"/>
              </a:rPr>
              <a:t>12</a:t>
            </a:r>
          </a:p>
        </p:txBody>
      </p:sp>
      <p:sp>
        <p:nvSpPr>
          <p:cNvPr id="4" name="TextBox 3"/>
          <p:cNvSpPr txBox="1"/>
          <p:nvPr/>
        </p:nvSpPr>
        <p:spPr>
          <a:xfrm>
            <a:off x="566928" y="128016"/>
            <a:ext cx="8534095" cy="640080"/>
          </a:xfrm>
          <a:prstGeom prst="rect">
            <a:avLst/>
          </a:prstGeom>
          <a:noFill/>
        </p:spPr>
        <p:txBody>
          <a:bodyPr wrap="square"/>
          <a:lstStyle/>
          <a:p>
            <a:pPr algn="l"/>
            <a:r>
              <a:rPr sz="1900" b="1" i="0">
                <a:solidFill>
                  <a:srgbClr val="FFFFFF"/>
                </a:solidFill>
                <a:latin typeface="Calibri"/>
              </a:rPr>
              <a:t>A Structured Path to Partnership</a:t>
            </a:r>
          </a:p>
        </p:txBody>
      </p:sp>
      <p:sp>
        <p:nvSpPr>
          <p:cNvPr id="5" name="TextBox 4"/>
          <p:cNvSpPr txBox="1"/>
          <p:nvPr/>
        </p:nvSpPr>
        <p:spPr>
          <a:xfrm>
            <a:off x="8899855" y="237744"/>
            <a:ext cx="3108960" cy="292608"/>
          </a:xfrm>
          <a:prstGeom prst="rect">
            <a:avLst/>
          </a:prstGeom>
          <a:noFill/>
        </p:spPr>
        <p:txBody>
          <a:bodyPr wrap="square"/>
          <a:lstStyle/>
          <a:p>
            <a:pPr algn="r"/>
            <a:r>
              <a:rPr sz="800" b="0" i="0">
                <a:solidFill>
                  <a:srgbClr val="A0B9DC"/>
                </a:solidFill>
                <a:latin typeface="Calibri"/>
              </a:rPr>
              <a:t>DIS GROUP  ×  SKYSCANNER   |   CONFIDENTIAL</a:t>
            </a:r>
          </a:p>
        </p:txBody>
      </p:sp>
      <p:sp>
        <p:nvSpPr>
          <p:cNvPr id="6" name="Rectangle 5"/>
          <p:cNvSpPr/>
          <p:nvPr/>
        </p:nvSpPr>
        <p:spPr>
          <a:xfrm>
            <a:off x="0" y="6473952"/>
            <a:ext cx="12191695" cy="384048"/>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473952"/>
            <a:ext cx="12191695" cy="228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537960"/>
            <a:ext cx="10225735" cy="274320"/>
          </a:xfrm>
          <a:prstGeom prst="rect">
            <a:avLst/>
          </a:prstGeom>
          <a:noFill/>
        </p:spPr>
        <p:txBody>
          <a:bodyPr wrap="square"/>
          <a:lstStyle/>
          <a:p>
            <a:pPr algn="l"/>
            <a:r>
              <a:rPr sz="800" b="0" i="0">
                <a:solidFill>
                  <a:srgbClr val="6B7280"/>
                </a:solidFill>
                <a:latin typeface="Calibri"/>
              </a:rPr>
              <a:t>DIS Group × Skyscanner  |  Confidential — For Partnership Discussion Only  |  July 2026</a:t>
            </a:r>
          </a:p>
        </p:txBody>
      </p:sp>
      <p:sp>
        <p:nvSpPr>
          <p:cNvPr id="9" name="TextBox 8"/>
          <p:cNvSpPr txBox="1"/>
          <p:nvPr/>
        </p:nvSpPr>
        <p:spPr>
          <a:xfrm>
            <a:off x="11140135" y="6537960"/>
            <a:ext cx="914400" cy="274320"/>
          </a:xfrm>
          <a:prstGeom prst="rect">
            <a:avLst/>
          </a:prstGeom>
          <a:noFill/>
        </p:spPr>
        <p:txBody>
          <a:bodyPr wrap="square"/>
          <a:lstStyle/>
          <a:p>
            <a:pPr algn="r"/>
            <a:r>
              <a:rPr sz="800" b="0" i="0">
                <a:solidFill>
                  <a:srgbClr val="6B7280"/>
                </a:solidFill>
                <a:latin typeface="Calibri"/>
              </a:rPr>
              <a:t>12 / 12</a:t>
            </a:r>
          </a:p>
        </p:txBody>
      </p:sp>
      <p:sp>
        <p:nvSpPr>
          <p:cNvPr id="10" name="TextBox 9"/>
          <p:cNvSpPr txBox="1"/>
          <p:nvPr/>
        </p:nvSpPr>
        <p:spPr>
          <a:xfrm>
            <a:off x="685800" y="822960"/>
            <a:ext cx="10820095" cy="320040"/>
          </a:xfrm>
          <a:prstGeom prst="rect">
            <a:avLst/>
          </a:prstGeom>
          <a:noFill/>
        </p:spPr>
        <p:txBody>
          <a:bodyPr wrap="square"/>
          <a:lstStyle/>
          <a:p>
            <a:pPr algn="l"/>
            <a:r>
              <a:rPr sz="1200" b="1" i="0">
                <a:solidFill>
                  <a:srgbClr val="0E2C54"/>
                </a:solidFill>
                <a:latin typeface="Calibri"/>
              </a:rPr>
              <a:t>What we are asking for is a conversation. Not a pilot. Not a data access agreement. Not a commercial commitment.</a:t>
            </a:r>
          </a:p>
        </p:txBody>
      </p:sp>
      <p:sp>
        <p:nvSpPr>
          <p:cNvPr id="11" name="TextBox 10"/>
          <p:cNvSpPr txBox="1"/>
          <p:nvPr/>
        </p:nvSpPr>
        <p:spPr>
          <a:xfrm>
            <a:off x="685800" y="1225296"/>
            <a:ext cx="10820095" cy="256032"/>
          </a:xfrm>
          <a:prstGeom prst="rect">
            <a:avLst/>
          </a:prstGeom>
          <a:noFill/>
        </p:spPr>
        <p:txBody>
          <a:bodyPr wrap="square"/>
          <a:lstStyle/>
          <a:p>
            <a:pPr algn="l"/>
            <a:r>
              <a:rPr sz="850" b="1" i="0">
                <a:solidFill>
                  <a:srgbClr val="2563EB"/>
                </a:solidFill>
                <a:latin typeface="Calibri"/>
              </a:rPr>
              <a:t>WHAT SKYSCANNER COMMITS AT EACH STAGE</a:t>
            </a:r>
          </a:p>
        </p:txBody>
      </p:sp>
      <p:sp>
        <p:nvSpPr>
          <p:cNvPr id="12" name="Rectangle 11"/>
          <p:cNvSpPr/>
          <p:nvPr/>
        </p:nvSpPr>
        <p:spPr>
          <a:xfrm>
            <a:off x="685800" y="1517904"/>
            <a:ext cx="228600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1572768"/>
            <a:ext cx="2139696" cy="329184"/>
          </a:xfrm>
          <a:prstGeom prst="rect">
            <a:avLst/>
          </a:prstGeom>
          <a:noFill/>
        </p:spPr>
        <p:txBody>
          <a:bodyPr wrap="square"/>
          <a:lstStyle/>
          <a:p>
            <a:pPr algn="l"/>
            <a:r>
              <a:rPr sz="1000" b="1" i="0">
                <a:solidFill>
                  <a:srgbClr val="FFFFFF"/>
                </a:solidFill>
                <a:latin typeface="Calibri"/>
              </a:rPr>
              <a:t>Stage</a:t>
            </a:r>
          </a:p>
        </p:txBody>
      </p:sp>
      <p:sp>
        <p:nvSpPr>
          <p:cNvPr id="14" name="Rectangle 13"/>
          <p:cNvSpPr/>
          <p:nvPr/>
        </p:nvSpPr>
        <p:spPr>
          <a:xfrm>
            <a:off x="2971800" y="1517904"/>
            <a:ext cx="338328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81528" y="1572768"/>
            <a:ext cx="3236976" cy="329184"/>
          </a:xfrm>
          <a:prstGeom prst="rect">
            <a:avLst/>
          </a:prstGeom>
          <a:noFill/>
        </p:spPr>
        <p:txBody>
          <a:bodyPr wrap="square"/>
          <a:lstStyle/>
          <a:p>
            <a:pPr algn="l"/>
            <a:r>
              <a:rPr sz="1000" b="1" i="0">
                <a:solidFill>
                  <a:srgbClr val="FFFFFF"/>
                </a:solidFill>
                <a:latin typeface="Calibri"/>
              </a:rPr>
              <a:t>Skyscanner Commits</a:t>
            </a:r>
          </a:p>
        </p:txBody>
      </p:sp>
      <p:sp>
        <p:nvSpPr>
          <p:cNvPr id="16" name="Rectangle 15"/>
          <p:cNvSpPr/>
          <p:nvPr/>
        </p:nvSpPr>
        <p:spPr>
          <a:xfrm>
            <a:off x="6355080" y="1517904"/>
            <a:ext cx="5120640" cy="402336"/>
          </a:xfrm>
          <a:prstGeom prst="rect">
            <a:avLst/>
          </a:prstGeom>
          <a:solidFill>
            <a:srgbClr val="0E2C54"/>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8" y="1572768"/>
            <a:ext cx="4974336" cy="329184"/>
          </a:xfrm>
          <a:prstGeom prst="rect">
            <a:avLst/>
          </a:prstGeom>
          <a:noFill/>
        </p:spPr>
        <p:txBody>
          <a:bodyPr wrap="square"/>
          <a:lstStyle/>
          <a:p>
            <a:pPr algn="l"/>
            <a:r>
              <a:rPr sz="1000" b="1" i="0">
                <a:solidFill>
                  <a:srgbClr val="FFFFFF"/>
                </a:solidFill>
                <a:latin typeface="Calibri"/>
              </a:rPr>
              <a:t>Skyscanner Receives</a:t>
            </a:r>
          </a:p>
        </p:txBody>
      </p:sp>
      <p:sp>
        <p:nvSpPr>
          <p:cNvPr id="18" name="Rectangle 17"/>
          <p:cNvSpPr/>
          <p:nvPr/>
        </p:nvSpPr>
        <p:spPr>
          <a:xfrm>
            <a:off x="685800" y="1920240"/>
            <a:ext cx="2286000" cy="65836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1975104"/>
            <a:ext cx="2139696" cy="585216"/>
          </a:xfrm>
          <a:prstGeom prst="rect">
            <a:avLst/>
          </a:prstGeom>
          <a:noFill/>
        </p:spPr>
        <p:txBody>
          <a:bodyPr wrap="square"/>
          <a:lstStyle/>
          <a:p>
            <a:pPr algn="l"/>
            <a:r>
              <a:rPr sz="1000" b="1" i="0">
                <a:solidFill>
                  <a:srgbClr val="0E2C54"/>
                </a:solidFill>
                <a:latin typeface="Calibri"/>
              </a:rPr>
              <a:t>Initial conversation</a:t>
            </a:r>
          </a:p>
          <a:p>
            <a:pPr algn="l"/>
            <a:r>
              <a:rPr sz="1000" b="1" i="0">
                <a:solidFill>
                  <a:srgbClr val="0E2C54"/>
                </a:solidFill>
                <a:latin typeface="Calibri"/>
              </a:rPr>
              <a:t>(45 minutes)</a:t>
            </a:r>
          </a:p>
        </p:txBody>
      </p:sp>
      <p:sp>
        <p:nvSpPr>
          <p:cNvPr id="20" name="Rectangle 19"/>
          <p:cNvSpPr/>
          <p:nvPr/>
        </p:nvSpPr>
        <p:spPr>
          <a:xfrm>
            <a:off x="2971800" y="1920240"/>
            <a:ext cx="3383280" cy="65836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81528" y="1975104"/>
            <a:ext cx="3236976" cy="585216"/>
          </a:xfrm>
          <a:prstGeom prst="rect">
            <a:avLst/>
          </a:prstGeom>
          <a:noFill/>
        </p:spPr>
        <p:txBody>
          <a:bodyPr wrap="square"/>
          <a:lstStyle/>
          <a:p>
            <a:pPr algn="l"/>
            <a:r>
              <a:rPr sz="1000" b="0" i="0">
                <a:solidFill>
                  <a:srgbClr val="111827"/>
                </a:solidFill>
                <a:latin typeface="Calibri"/>
              </a:rPr>
              <a:t>One meeting</a:t>
            </a:r>
          </a:p>
          <a:p>
            <a:pPr algn="l"/>
            <a:r>
              <a:rPr sz="1000" b="0" i="0">
                <a:solidFill>
                  <a:srgbClr val="111827"/>
                </a:solidFill>
                <a:latin typeface="Calibri"/>
              </a:rPr>
              <a:t>No commercial or data commitment</a:t>
            </a:r>
          </a:p>
        </p:txBody>
      </p:sp>
      <p:sp>
        <p:nvSpPr>
          <p:cNvPr id="22" name="Rectangle 21"/>
          <p:cNvSpPr/>
          <p:nvPr/>
        </p:nvSpPr>
        <p:spPr>
          <a:xfrm>
            <a:off x="6355080" y="1920240"/>
            <a:ext cx="5120640" cy="65836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8" y="1975104"/>
            <a:ext cx="4974336" cy="585216"/>
          </a:xfrm>
          <a:prstGeom prst="rect">
            <a:avLst/>
          </a:prstGeom>
          <a:noFill/>
        </p:spPr>
        <p:txBody>
          <a:bodyPr wrap="square"/>
          <a:lstStyle/>
          <a:p>
            <a:pPr algn="l"/>
            <a:r>
              <a:rPr sz="1000" b="0" i="0">
                <a:solidFill>
                  <a:srgbClr val="111827"/>
                </a:solidFill>
                <a:latin typeface="Calibri"/>
              </a:rPr>
              <a:t>A structured assessment of whether strategic fit warrants further investment</a:t>
            </a:r>
          </a:p>
        </p:txBody>
      </p:sp>
      <p:sp>
        <p:nvSpPr>
          <p:cNvPr id="24" name="Rectangle 23"/>
          <p:cNvSpPr/>
          <p:nvPr/>
        </p:nvSpPr>
        <p:spPr>
          <a:xfrm>
            <a:off x="685800" y="2578608"/>
            <a:ext cx="2286000" cy="65836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5528" y="2633472"/>
            <a:ext cx="2139696" cy="585216"/>
          </a:xfrm>
          <a:prstGeom prst="rect">
            <a:avLst/>
          </a:prstGeom>
          <a:noFill/>
        </p:spPr>
        <p:txBody>
          <a:bodyPr wrap="square"/>
          <a:lstStyle/>
          <a:p>
            <a:pPr algn="l"/>
            <a:r>
              <a:rPr sz="1000" b="1" i="0">
                <a:solidFill>
                  <a:srgbClr val="0E2C54"/>
                </a:solidFill>
                <a:latin typeface="Calibri"/>
              </a:rPr>
              <a:t>Partnership design</a:t>
            </a:r>
          </a:p>
          <a:p>
            <a:pPr algn="l"/>
            <a:r>
              <a:rPr sz="1000" b="1" i="0">
                <a:solidFill>
                  <a:srgbClr val="0E2C54"/>
                </a:solidFill>
                <a:latin typeface="Calibri"/>
              </a:rPr>
              <a:t>(60–90 days)</a:t>
            </a:r>
          </a:p>
        </p:txBody>
      </p:sp>
      <p:sp>
        <p:nvSpPr>
          <p:cNvPr id="26" name="Rectangle 25"/>
          <p:cNvSpPr/>
          <p:nvPr/>
        </p:nvSpPr>
        <p:spPr>
          <a:xfrm>
            <a:off x="2971800" y="2578608"/>
            <a:ext cx="3383280" cy="65836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81528" y="2633472"/>
            <a:ext cx="3236976" cy="585216"/>
          </a:xfrm>
          <a:prstGeom prst="rect">
            <a:avLst/>
          </a:prstGeom>
          <a:noFill/>
        </p:spPr>
        <p:txBody>
          <a:bodyPr wrap="square"/>
          <a:lstStyle/>
          <a:p>
            <a:pPr algn="l"/>
            <a:r>
              <a:rPr sz="1000" b="0" i="0">
                <a:solidFill>
                  <a:srgbClr val="111827"/>
                </a:solidFill>
                <a:latin typeface="Calibri"/>
              </a:rPr>
              <a:t>Dedicated time from partnerships</a:t>
            </a:r>
          </a:p>
          <a:p>
            <a:pPr algn="l"/>
            <a:r>
              <a:rPr sz="1000" b="0" i="0">
                <a:solidFill>
                  <a:srgbClr val="111827"/>
                </a:solidFill>
                <a:latin typeface="Calibri"/>
              </a:rPr>
              <a:t>and technical teams</a:t>
            </a:r>
          </a:p>
        </p:txBody>
      </p:sp>
      <p:sp>
        <p:nvSpPr>
          <p:cNvPr id="28" name="Rectangle 27"/>
          <p:cNvSpPr/>
          <p:nvPr/>
        </p:nvSpPr>
        <p:spPr>
          <a:xfrm>
            <a:off x="6355080" y="2578608"/>
            <a:ext cx="5120640" cy="658368"/>
          </a:xfrm>
          <a:prstGeom prst="rect">
            <a:avLst/>
          </a:prstGeom>
          <a:solidFill>
            <a:srgbClr val="FFFFFF"/>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64808" y="2633472"/>
            <a:ext cx="4974336" cy="585216"/>
          </a:xfrm>
          <a:prstGeom prst="rect">
            <a:avLst/>
          </a:prstGeom>
          <a:noFill/>
        </p:spPr>
        <p:txBody>
          <a:bodyPr wrap="square"/>
          <a:lstStyle/>
          <a:p>
            <a:pPr algn="l"/>
            <a:r>
              <a:rPr sz="1000" b="0" i="0">
                <a:solidFill>
                  <a:srgbClr val="111827"/>
                </a:solidFill>
                <a:latin typeface="Calibri"/>
              </a:rPr>
              <a:t>Fully specified commercial proposal, technical integration design, and data agreement draft</a:t>
            </a:r>
          </a:p>
        </p:txBody>
      </p:sp>
      <p:sp>
        <p:nvSpPr>
          <p:cNvPr id="30" name="Rectangle 29"/>
          <p:cNvSpPr/>
          <p:nvPr/>
        </p:nvSpPr>
        <p:spPr>
          <a:xfrm>
            <a:off x="685800" y="3236976"/>
            <a:ext cx="2286000" cy="65836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8" y="3291840"/>
            <a:ext cx="2139696" cy="585216"/>
          </a:xfrm>
          <a:prstGeom prst="rect">
            <a:avLst/>
          </a:prstGeom>
          <a:noFill/>
        </p:spPr>
        <p:txBody>
          <a:bodyPr wrap="square"/>
          <a:lstStyle/>
          <a:p>
            <a:pPr algn="l"/>
            <a:r>
              <a:rPr sz="1000" b="1" i="0">
                <a:solidFill>
                  <a:srgbClr val="0E2C54"/>
                </a:solidFill>
                <a:latin typeface="Calibri"/>
              </a:rPr>
              <a:t>Integration build</a:t>
            </a:r>
          </a:p>
        </p:txBody>
      </p:sp>
      <p:sp>
        <p:nvSpPr>
          <p:cNvPr id="32" name="Rectangle 31"/>
          <p:cNvSpPr/>
          <p:nvPr/>
        </p:nvSpPr>
        <p:spPr>
          <a:xfrm>
            <a:off x="2971800" y="3236976"/>
            <a:ext cx="3383280" cy="65836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81528" y="3291840"/>
            <a:ext cx="3236976" cy="585216"/>
          </a:xfrm>
          <a:prstGeom prst="rect">
            <a:avLst/>
          </a:prstGeom>
          <a:noFill/>
        </p:spPr>
        <p:txBody>
          <a:bodyPr wrap="square"/>
          <a:lstStyle/>
          <a:p>
            <a:pPr algn="l"/>
            <a:r>
              <a:rPr sz="1000" b="0" i="0">
                <a:solidFill>
                  <a:srgbClr val="111827"/>
                </a:solidFill>
                <a:latin typeface="Calibri"/>
              </a:rPr>
              <a:t>Defined data access under</a:t>
            </a:r>
          </a:p>
          <a:p>
            <a:pPr algn="l"/>
            <a:r>
              <a:rPr sz="1000" b="0" i="0">
                <a:solidFill>
                  <a:srgbClr val="111827"/>
                </a:solidFill>
                <a:latin typeface="Calibri"/>
              </a:rPr>
              <a:t>signed agreement</a:t>
            </a:r>
          </a:p>
        </p:txBody>
      </p:sp>
      <p:sp>
        <p:nvSpPr>
          <p:cNvPr id="34" name="Rectangle 33"/>
          <p:cNvSpPr/>
          <p:nvPr/>
        </p:nvSpPr>
        <p:spPr>
          <a:xfrm>
            <a:off x="6355080" y="3236976"/>
            <a:ext cx="5120640" cy="658368"/>
          </a:xfrm>
          <a:prstGeom prst="rect">
            <a:avLst/>
          </a:prstGeom>
          <a:solidFill>
            <a:srgbClr val="F7F8FA"/>
          </a:solidFill>
          <a:ln w="508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64808" y="3291840"/>
            <a:ext cx="4974336" cy="585216"/>
          </a:xfrm>
          <a:prstGeom prst="rect">
            <a:avLst/>
          </a:prstGeom>
          <a:noFill/>
        </p:spPr>
        <p:txBody>
          <a:bodyPr wrap="square"/>
          <a:lstStyle/>
          <a:p>
            <a:pPr algn="l"/>
            <a:r>
              <a:rPr sz="1000" b="0" i="0">
                <a:solidFill>
                  <a:srgbClr val="111827"/>
                </a:solidFill>
                <a:latin typeface="Calibri"/>
              </a:rPr>
              <a:t>Corporate buyer channel and CSRD-driven distribution Skyscanner's consumer product does not currently reach</a:t>
            </a:r>
          </a:p>
        </p:txBody>
      </p:sp>
      <p:sp>
        <p:nvSpPr>
          <p:cNvPr id="36" name="TextBox 35"/>
          <p:cNvSpPr txBox="1"/>
          <p:nvPr/>
        </p:nvSpPr>
        <p:spPr>
          <a:xfrm>
            <a:off x="685800" y="4059936"/>
            <a:ext cx="10820095" cy="256032"/>
          </a:xfrm>
          <a:prstGeom prst="rect">
            <a:avLst/>
          </a:prstGeom>
          <a:noFill/>
        </p:spPr>
        <p:txBody>
          <a:bodyPr wrap="square"/>
          <a:lstStyle/>
          <a:p>
            <a:pPr algn="l"/>
            <a:r>
              <a:rPr sz="850" b="1" i="0">
                <a:solidFill>
                  <a:srgbClr val="2563EB"/>
                </a:solidFill>
                <a:latin typeface="Calibri"/>
              </a:rPr>
              <a:t>WHAT WE BRING TO THE INITIAL CONVERSATION</a:t>
            </a:r>
          </a:p>
        </p:txBody>
      </p:sp>
      <p:sp>
        <p:nvSpPr>
          <p:cNvPr id="37" name="Rectangle 36"/>
          <p:cNvSpPr/>
          <p:nvPr/>
        </p:nvSpPr>
        <p:spPr>
          <a:xfrm>
            <a:off x="685800" y="4334256"/>
            <a:ext cx="3496970" cy="34747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528" y="4389120"/>
            <a:ext cx="3314090" cy="256032"/>
          </a:xfrm>
          <a:prstGeom prst="rect">
            <a:avLst/>
          </a:prstGeom>
          <a:noFill/>
        </p:spPr>
        <p:txBody>
          <a:bodyPr wrap="square"/>
          <a:lstStyle/>
          <a:p>
            <a:pPr algn="l"/>
            <a:r>
              <a:rPr sz="1000" b="1" i="0">
                <a:solidFill>
                  <a:srgbClr val="FFFFFF"/>
                </a:solidFill>
                <a:latin typeface="Calibri"/>
              </a:rPr>
              <a:t>Technical depth</a:t>
            </a:r>
          </a:p>
        </p:txBody>
      </p:sp>
      <p:sp>
        <p:nvSpPr>
          <p:cNvPr id="39" name="Rectangle 38"/>
          <p:cNvSpPr/>
          <p:nvPr/>
        </p:nvSpPr>
        <p:spPr>
          <a:xfrm>
            <a:off x="685800" y="4681728"/>
            <a:ext cx="3496970" cy="713232"/>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4773168"/>
            <a:ext cx="3314090" cy="548640"/>
          </a:xfrm>
          <a:prstGeom prst="rect">
            <a:avLst/>
          </a:prstGeom>
          <a:noFill/>
        </p:spPr>
        <p:txBody>
          <a:bodyPr wrap="square"/>
          <a:lstStyle/>
          <a:p>
            <a:pPr algn="l"/>
            <a:r>
              <a:rPr sz="950" b="0" i="0">
                <a:solidFill>
                  <a:srgbClr val="111827"/>
                </a:solidFill>
                <a:latin typeface="Calibri"/>
              </a:rPr>
              <a:t>Architecture walkthrough and specific data dependencies</a:t>
            </a:r>
          </a:p>
        </p:txBody>
      </p:sp>
      <p:sp>
        <p:nvSpPr>
          <p:cNvPr id="41" name="Rectangle 40"/>
          <p:cNvSpPr/>
          <p:nvPr/>
        </p:nvSpPr>
        <p:spPr>
          <a:xfrm>
            <a:off x="4347362" y="4334256"/>
            <a:ext cx="3496970" cy="34747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457090" y="4389120"/>
            <a:ext cx="3314090" cy="256032"/>
          </a:xfrm>
          <a:prstGeom prst="rect">
            <a:avLst/>
          </a:prstGeom>
          <a:noFill/>
        </p:spPr>
        <p:txBody>
          <a:bodyPr wrap="square"/>
          <a:lstStyle/>
          <a:p>
            <a:pPr algn="l"/>
            <a:r>
              <a:rPr sz="1000" b="1" i="0">
                <a:solidFill>
                  <a:srgbClr val="FFFFFF"/>
                </a:solidFill>
                <a:latin typeface="Calibri"/>
              </a:rPr>
              <a:t>Commercial clarity</a:t>
            </a:r>
          </a:p>
        </p:txBody>
      </p:sp>
      <p:sp>
        <p:nvSpPr>
          <p:cNvPr id="43" name="Rectangle 42"/>
          <p:cNvSpPr/>
          <p:nvPr/>
        </p:nvSpPr>
        <p:spPr>
          <a:xfrm>
            <a:off x="4347362" y="4681728"/>
            <a:ext cx="3496970" cy="713232"/>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57090" y="4773168"/>
            <a:ext cx="3314090" cy="548640"/>
          </a:xfrm>
          <a:prstGeom prst="rect">
            <a:avLst/>
          </a:prstGeom>
          <a:noFill/>
        </p:spPr>
        <p:txBody>
          <a:bodyPr wrap="square"/>
          <a:lstStyle/>
          <a:p>
            <a:pPr algn="l"/>
            <a:r>
              <a:rPr sz="950" b="0" i="0">
                <a:solidFill>
                  <a:srgbClr val="111827"/>
                </a:solidFill>
                <a:latin typeface="Calibri"/>
              </a:rPr>
              <a:t>Value exchange articulated precisely; open to Skyscanner's preferred commercial structure</a:t>
            </a:r>
          </a:p>
        </p:txBody>
      </p:sp>
      <p:sp>
        <p:nvSpPr>
          <p:cNvPr id="45" name="Rectangle 44"/>
          <p:cNvSpPr/>
          <p:nvPr/>
        </p:nvSpPr>
        <p:spPr>
          <a:xfrm>
            <a:off x="8008924" y="4334256"/>
            <a:ext cx="3496970" cy="347472"/>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18652" y="4389120"/>
            <a:ext cx="3314090" cy="256032"/>
          </a:xfrm>
          <a:prstGeom prst="rect">
            <a:avLst/>
          </a:prstGeom>
          <a:noFill/>
        </p:spPr>
        <p:txBody>
          <a:bodyPr wrap="square"/>
          <a:lstStyle/>
          <a:p>
            <a:pPr algn="l"/>
            <a:r>
              <a:rPr sz="1000" b="1" i="0">
                <a:solidFill>
                  <a:srgbClr val="FFFFFF"/>
                </a:solidFill>
                <a:latin typeface="Calibri"/>
              </a:rPr>
              <a:t>Honesty about timelines</a:t>
            </a:r>
          </a:p>
        </p:txBody>
      </p:sp>
      <p:sp>
        <p:nvSpPr>
          <p:cNvPr id="47" name="Rectangle 46"/>
          <p:cNvSpPr/>
          <p:nvPr/>
        </p:nvSpPr>
        <p:spPr>
          <a:xfrm>
            <a:off x="8008924" y="4681728"/>
            <a:ext cx="3496970" cy="713232"/>
          </a:xfrm>
          <a:prstGeom prst="rect">
            <a:avLst/>
          </a:prstGeom>
          <a:solidFill>
            <a:srgbClr val="F7F8FA"/>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18652" y="4773168"/>
            <a:ext cx="3314090" cy="548640"/>
          </a:xfrm>
          <a:prstGeom prst="rect">
            <a:avLst/>
          </a:prstGeom>
          <a:noFill/>
        </p:spPr>
        <p:txBody>
          <a:bodyPr wrap="square"/>
          <a:lstStyle/>
          <a:p>
            <a:pPr algn="l"/>
            <a:r>
              <a:rPr sz="950" b="0" i="0">
                <a:solidFill>
                  <a:srgbClr val="111827"/>
                </a:solidFill>
                <a:latin typeface="Calibri"/>
              </a:rPr>
              <a:t>We will not overstate build progress or compress realistic partnership timelines</a:t>
            </a:r>
          </a:p>
        </p:txBody>
      </p:sp>
      <p:sp>
        <p:nvSpPr>
          <p:cNvPr id="49" name="Rectangle 48"/>
          <p:cNvSpPr/>
          <p:nvPr/>
        </p:nvSpPr>
        <p:spPr>
          <a:xfrm>
            <a:off x="685800" y="5943600"/>
            <a:ext cx="10820095" cy="457200"/>
          </a:xfrm>
          <a:prstGeom prst="rect">
            <a:avLst/>
          </a:prstGeom>
          <a:solidFill>
            <a:srgbClr val="0E2C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8680" y="6035040"/>
            <a:ext cx="10454335" cy="310896"/>
          </a:xfrm>
          <a:prstGeom prst="rect">
            <a:avLst/>
          </a:prstGeom>
          <a:noFill/>
        </p:spPr>
        <p:txBody>
          <a:bodyPr wrap="square"/>
          <a:lstStyle/>
          <a:p>
            <a:pPr algn="ctr"/>
            <a:r>
              <a:rPr sz="1150" b="1" i="0">
                <a:solidFill>
                  <a:srgbClr val="FFFFFF"/>
                </a:solidFill>
                <a:latin typeface="Calibri"/>
              </a:rPr>
              <a:t>Proposed next step: a 45-minute call at a time that suits your team.   Contact: [ceo@disgroup.ie]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